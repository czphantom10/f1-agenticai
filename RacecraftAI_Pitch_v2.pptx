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9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bar"/>
        <c:grouping val="clustered"/>
        <c:varyColors val="0"/>
        <c:ser>
          <c:idx val="0"/>
          <c:order val="0"/>
          <c:tx>
            <c:strRef>
              <c:f>Sheet1!$B$1</c:f>
              <c:strCache>
                <c:ptCount val="1"/>
                <c:pt idx="0">
                  <c:v>Weight %</c:v>
                </c:pt>
              </c:strCache>
            </c:strRef>
          </c:tx>
          <c:spPr>
            <a:solidFill>
              <a:srgbClr val="00AAFF"/>
            </a:solidFill>
            <a:effectLst/>
          </c:spPr>
          <c:invertIfNegative val="0"/>
          <c:dPt>
            <c:idx val="0"/>
            <c:invertIfNegative val="0"/>
            <c:bubble3D val="0"/>
            <c:spPr>
              <a:solidFill>
                <a:srgbClr val="00AAFF"/>
              </a:solidFill>
              <a:effectLst/>
            </c:spPr>
            <c:extLst>
              <c:ext xmlns:c16="http://schemas.microsoft.com/office/drawing/2014/chart" uri="{C3380CC4-5D6E-409C-BE32-E72D297353CC}">
                <c16:uniqueId val="{00000001-A7AC-4C92-9C5F-14B2F563E62F}"/>
              </c:ext>
            </c:extLst>
          </c:dPt>
          <c:dPt>
            <c:idx val="1"/>
            <c:invertIfNegative val="0"/>
            <c:bubble3D val="0"/>
            <c:spPr>
              <a:solidFill>
                <a:srgbClr val="0066CC"/>
              </a:solidFill>
              <a:effectLst/>
            </c:spPr>
            <c:extLst>
              <c:ext xmlns:c16="http://schemas.microsoft.com/office/drawing/2014/chart" uri="{C3380CC4-5D6E-409C-BE32-E72D297353CC}">
                <c16:uniqueId val="{00000003-A7AC-4C92-9C5F-14B2F563E62F}"/>
              </c:ext>
            </c:extLst>
          </c:dPt>
          <c:dPt>
            <c:idx val="2"/>
            <c:invertIfNegative val="0"/>
            <c:bubble3D val="0"/>
            <c:spPr>
              <a:solidFill>
                <a:srgbClr val="0055AA"/>
              </a:solidFill>
              <a:effectLst/>
            </c:spPr>
            <c:extLst>
              <c:ext xmlns:c16="http://schemas.microsoft.com/office/drawing/2014/chart" uri="{C3380CC4-5D6E-409C-BE32-E72D297353CC}">
                <c16:uniqueId val="{00000005-A7AC-4C92-9C5F-14B2F563E62F}"/>
              </c:ext>
            </c:extLst>
          </c:dPt>
          <c:dPt>
            <c:idx val="3"/>
            <c:invertIfNegative val="0"/>
            <c:bubble3D val="0"/>
            <c:spPr>
              <a:solidFill>
                <a:srgbClr val="004488"/>
              </a:solidFill>
              <a:effectLst/>
            </c:spPr>
            <c:extLst>
              <c:ext xmlns:c16="http://schemas.microsoft.com/office/drawing/2014/chart" uri="{C3380CC4-5D6E-409C-BE32-E72D297353CC}">
                <c16:uniqueId val="{00000007-A7AC-4C92-9C5F-14B2F563E62F}"/>
              </c:ext>
            </c:extLst>
          </c:dPt>
          <c:dPt>
            <c:idx val="4"/>
            <c:invertIfNegative val="0"/>
            <c:bubble3D val="0"/>
            <c:spPr>
              <a:solidFill>
                <a:srgbClr val="003366"/>
              </a:solidFill>
              <a:effectLst/>
            </c:spPr>
            <c:extLst>
              <c:ext xmlns:c16="http://schemas.microsoft.com/office/drawing/2014/chart" uri="{C3380CC4-5D6E-409C-BE32-E72D297353CC}">
                <c16:uniqueId val="{00000009-A7AC-4C92-9C5F-14B2F563E62F}"/>
              </c:ext>
            </c:extLst>
          </c:dPt>
          <c:dLbls>
            <c:numFmt formatCode="#,##0" sourceLinked="0"/>
            <c:spPr>
              <a:noFill/>
              <a:ln>
                <a:noFill/>
              </a:ln>
              <a:effectLst/>
            </c:spPr>
            <c:txPr>
              <a:bodyPr/>
              <a:lstStyle/>
              <a:p>
                <a:pPr>
                  <a:defRPr sz="1100" b="1"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Recent Form</c:v>
                </c:pt>
                <c:pt idx="1">
                  <c:v>Track History</c:v>
                </c:pt>
                <c:pt idx="2">
                  <c:v>Constructor</c:v>
                </c:pt>
                <c:pt idx="3">
                  <c:v>Qualifying</c:v>
                </c:pt>
                <c:pt idx="4">
                  <c:v>Championship</c:v>
                </c:pt>
              </c:strCache>
            </c:strRef>
          </c:cat>
          <c:val>
            <c:numRef>
              <c:f>Sheet1!$B$2:$B$6</c:f>
              <c:numCache>
                <c:formatCode>General</c:formatCode>
                <c:ptCount val="5"/>
                <c:pt idx="0">
                  <c:v>40</c:v>
                </c:pt>
                <c:pt idx="1">
                  <c:v>20</c:v>
                </c:pt>
                <c:pt idx="2">
                  <c:v>20</c:v>
                </c:pt>
                <c:pt idx="3">
                  <c:v>10</c:v>
                </c:pt>
                <c:pt idx="4">
                  <c:v>10</c:v>
                </c:pt>
              </c:numCache>
            </c:numRef>
          </c:val>
          <c:extLst>
            <c:ext xmlns:c16="http://schemas.microsoft.com/office/drawing/2014/chart" uri="{C3380CC4-5D6E-409C-BE32-E72D297353CC}">
              <c16:uniqueId val="{0000000A-A7AC-4C92-9C5F-14B2F563E62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C8D8E8"/>
                </a:solidFill>
                <a:latin typeface="Arial"/>
              </a:defRPr>
            </a:pPr>
            <a:endParaRPr lang="en-US"/>
          </a:p>
        </c:txPr>
        <c:crossAx val="2094734552"/>
        <c:crosses val="autoZero"/>
        <c:auto val="1"/>
        <c:lblAlgn val="ctr"/>
        <c:lblOffset val="100"/>
        <c:noMultiLvlLbl val="1"/>
      </c:catAx>
      <c:valAx>
        <c:axId val="2094734552"/>
        <c:scaling>
          <c:orientation val="minMax"/>
          <c:max val="50"/>
        </c:scaling>
        <c:delete val="0"/>
        <c:axPos val="b"/>
        <c:majorGridlines>
          <c:spPr>
            <a:ln w="6350" cap="flat">
              <a:solidFill>
                <a:srgbClr val="1A2D40"/>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200" b="0" i="0" u="none" strike="noStrike">
                <a:solidFill>
                  <a:srgbClr val="5A7A9A"/>
                </a:solidFill>
                <a:latin typeface="Arial"/>
              </a:defRPr>
            </a:pPr>
            <a:endParaRPr lang="en-US"/>
          </a:p>
        </c:txPr>
        <c:crossAx val="2094734554"/>
        <c:crosses val="autoZero"/>
        <c:crossBetween val="between"/>
      </c:valAx>
      <c:spPr>
        <a:solidFill>
          <a:srgbClr val="0B1422"/>
        </a:solidFill>
        <a:ln>
          <a:noFill/>
        </a:ln>
        <a:effectLst/>
      </c:spPr>
    </c:plotArea>
    <c:plotVisOnly val="1"/>
    <c:dispBlanksAs val="span"/>
    <c:showDLblsOverMax val="1"/>
  </c:chart>
  <c:spPr>
    <a:solidFill>
      <a:srgbClr val="0B1422"/>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16812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 30 sec
Open with: 'Racecraft AI is not an F1 dashboard. It is a proof-of-concept for how agentic AI systems should be built.'
Pause on the tagline. Let the simplicity land.
Judge message: 'We re-architected our way out of a broken system.'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 45 sec
Tell the story: 'We let the LLM predict. It picked Verstappen every time. It sounded confident. It was always wrong.'
This is your hook — a real failure that led to a real architecture decision.
Don't rush the left side. Let 'confident and wrong' sit with the judges.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INSIGHT — 20 sec
This is the architectural thesis. Read it slowly.
Key line for judges: 'We didn't prompt-engineer our way out. We re-architected.'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 60 sec
Walk the diagram: User Query → Orchestrator → agents → Context Aggregator → Groq LLM → Response
For tech judges: 'The LLM is step 5 of 5. It only sees the aggregated structured output.'
For business judges: 'This means predictions are deterministic and auditable — same input always gives same output.'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LAYER — 25 sec
Key insight: the INSIGHTS tables (driver_insights, circuit_insights, constructor_insights) are precomputed aggregates.
This is why retrieval is instant and hallucination-free — no LLM is asked to recall statistics.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CIRCUIT MEMORY — 40 sec
This is your strongest innovation. Own it.
'Instead of asking the LLM who wins at Silverstone, we precomputed the answer for every driver at every circuit. The LLM just reads it.'
Distinction from a dashboard: a dashboard shows you data. This system has already reasoned about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PREDICTION — 40 sec
40% recent form is the dominant factor — explain why: F1 form is highly correlated with race outcome.
For tech: 'scikit-learn composite scoring, deterministic, auditable.'
For business: 'Same question asked 100 times gives the same answer. No LLM randomness in the output.'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 STACK — 20 sec
One line: 'Every component here is production-grade.'
If asked about database: SQLite for the hackathon build, schema is fully PostgreSQL-compatible for production.
Pytest test suite exists — mention if judges ask about quality.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 90 sec
Q3 and Q4 are your showstoppers. The system remembers the circuit without you typing it again.
Narrate: 'I didn't type Silverstone again. The memory agent inherited the context.'
Q6 after Q5: 'I didn't re-specify which GP. It knows.'
BACKUP: if demo breaks, open screenshot folder. Always have it ready.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CHALLENGES — 30 sec
Pick challenge 01 and 04 as your emphasis.
01: 'This is the core problem in AI for high-stakes domains. We solved it by architecture, not prompting.'
04: 'Most AI loses context after 2 messages. Ours inherits it across the whole session.'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 25 sec
Business judges: 'We chose F1 because the public data is rich and complex. Replace the data source, the architecture stands.'
Tech judges: 'The agent interfaces are generic. Domain swap = data layer swap only.'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30 sec
Closing line: 'We didn't build a chatbot with F1 data. We built a framework for agentic AI that happens to love Formula 1.'
Pause. Then: 'And we're ready to show you.'
Invite the hardest F1 question judges can think of.</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youtu.be/_QOfYiclPxk?si=lrJY_EQHsx1ThYwl"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hyperlink" Target="https://drive.google.com/drive/folders/1nev2RsS_R4hBLUCTk-MSJw5A1THFD56Q?usp=shar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80F"/>
        </a:solidFill>
        <a:effectLst/>
      </p:bgPr>
    </p:bg>
    <p:spTree>
      <p:nvGrpSpPr>
        <p:cNvPr id="1" name=""/>
        <p:cNvGrpSpPr/>
        <p:nvPr/>
      </p:nvGrpSpPr>
      <p:grpSpPr>
        <a:xfrm>
          <a:off x="0" y="0"/>
          <a:ext cx="0" cy="0"/>
          <a:chOff x="0" y="0"/>
          <a:chExt cx="0" cy="0"/>
        </a:xfrm>
      </p:grpSpPr>
      <p:sp>
        <p:nvSpPr>
          <p:cNvPr id="2" name="Shape 0"/>
          <p:cNvSpPr/>
          <p:nvPr/>
        </p:nvSpPr>
        <p:spPr>
          <a:xfrm>
            <a:off x="-1371600" y="-1371600"/>
            <a:ext cx="7315200" cy="7315200"/>
          </a:xfrm>
          <a:prstGeom prst="ellipse">
            <a:avLst/>
          </a:prstGeom>
          <a:solidFill>
            <a:srgbClr val="0066CC">
              <a:alpha val="8000"/>
            </a:srgbClr>
          </a:solidFill>
          <a:ln w="12700">
            <a:solidFill>
              <a:srgbClr val="0066CC">
                <a:alpha val="0"/>
              </a:srgbClr>
            </a:solidFill>
            <a:prstDash val="solid"/>
          </a:ln>
        </p:spPr>
      </p:sp>
      <p:sp>
        <p:nvSpPr>
          <p:cNvPr id="3" name="Shape 1"/>
          <p:cNvSpPr/>
          <p:nvPr/>
        </p:nvSpPr>
        <p:spPr>
          <a:xfrm>
            <a:off x="548640" y="914400"/>
            <a:ext cx="1097280" cy="0"/>
          </a:xfrm>
          <a:prstGeom prst="line">
            <a:avLst/>
          </a:prstGeom>
          <a:noFill/>
          <a:ln w="25400">
            <a:solidFill>
              <a:srgbClr val="00AAFF"/>
            </a:solidFill>
            <a:prstDash val="solid"/>
          </a:ln>
        </p:spPr>
      </p:sp>
      <p:sp>
        <p:nvSpPr>
          <p:cNvPr id="5" name="Text 3"/>
          <p:cNvSpPr/>
          <p:nvPr/>
        </p:nvSpPr>
        <p:spPr>
          <a:xfrm>
            <a:off x="450166" y="580468"/>
            <a:ext cx="7772400" cy="2011680"/>
          </a:xfrm>
          <a:prstGeom prst="rect">
            <a:avLst/>
          </a:prstGeom>
          <a:noFill/>
          <a:ln/>
        </p:spPr>
        <p:txBody>
          <a:bodyPr wrap="square" rtlCol="0" anchor="ctr"/>
          <a:lstStyle/>
          <a:p>
            <a:pPr marL="0" indent="0">
              <a:buNone/>
            </a:pPr>
            <a:r>
              <a:rPr lang="en-US" sz="8800" b="1" kern="0" spc="-100" dirty="0">
                <a:solidFill>
                  <a:srgbClr val="FFFFFF"/>
                </a:solidFill>
                <a:latin typeface="Calibri" pitchFamily="34" charset="0"/>
                <a:ea typeface="Calibri" pitchFamily="34" charset="-122"/>
                <a:cs typeface="Calibri" pitchFamily="34" charset="-120"/>
              </a:rPr>
              <a:t>Racecraft AI</a:t>
            </a:r>
            <a:endParaRPr lang="en-US" sz="8800" dirty="0"/>
          </a:p>
        </p:txBody>
      </p:sp>
      <p:sp>
        <p:nvSpPr>
          <p:cNvPr id="6" name="Text 4"/>
          <p:cNvSpPr/>
          <p:nvPr/>
        </p:nvSpPr>
        <p:spPr>
          <a:xfrm>
            <a:off x="548640" y="2176272"/>
            <a:ext cx="6400800" cy="548640"/>
          </a:xfrm>
          <a:prstGeom prst="rect">
            <a:avLst/>
          </a:prstGeom>
          <a:noFill/>
          <a:ln/>
        </p:spPr>
        <p:txBody>
          <a:bodyPr wrap="square" rtlCol="0" anchor="ctr"/>
          <a:lstStyle/>
          <a:p>
            <a:pPr marL="0" indent="0">
              <a:buNone/>
            </a:pPr>
            <a:r>
              <a:rPr lang="en-US" sz="2400" dirty="0">
                <a:solidFill>
                  <a:srgbClr val="C8D8E8"/>
                </a:solidFill>
                <a:latin typeface="Calibri" pitchFamily="34" charset="0"/>
                <a:ea typeface="Calibri" pitchFamily="34" charset="-122"/>
                <a:cs typeface="Calibri" pitchFamily="34" charset="-120"/>
              </a:rPr>
              <a:t>Agentic Intelligence for Formula 1</a:t>
            </a:r>
            <a:endParaRPr lang="en-US" sz="2400" dirty="0"/>
          </a:p>
        </p:txBody>
      </p:sp>
      <p:sp>
        <p:nvSpPr>
          <p:cNvPr id="7" name="Shape 5"/>
          <p:cNvSpPr/>
          <p:nvPr/>
        </p:nvSpPr>
        <p:spPr>
          <a:xfrm>
            <a:off x="450166" y="4025437"/>
            <a:ext cx="8046720" cy="0"/>
          </a:xfrm>
          <a:prstGeom prst="line">
            <a:avLst/>
          </a:prstGeom>
          <a:noFill/>
          <a:ln w="6350">
            <a:solidFill>
              <a:srgbClr val="5A7A9A"/>
            </a:solidFill>
            <a:prstDash val="solid"/>
          </a:ln>
        </p:spPr>
        <p:txBody>
          <a:bodyPr/>
          <a:lstStyle/>
          <a:p>
            <a:endParaRPr lang="en-IN" dirty="0"/>
          </a:p>
        </p:txBody>
      </p:sp>
      <p:sp>
        <p:nvSpPr>
          <p:cNvPr id="14" name="Text 12"/>
          <p:cNvSpPr/>
          <p:nvPr/>
        </p:nvSpPr>
        <p:spPr>
          <a:xfrm>
            <a:off x="548640" y="2904274"/>
            <a:ext cx="3200400" cy="274320"/>
          </a:xfrm>
          <a:prstGeom prst="rect">
            <a:avLst/>
          </a:prstGeom>
          <a:noFill/>
          <a:ln/>
        </p:spPr>
        <p:txBody>
          <a:bodyPr wrap="square" rtlCol="0" anchor="ctr"/>
          <a:lstStyle/>
          <a:p>
            <a:pPr marL="0" indent="0">
              <a:buNone/>
            </a:pPr>
            <a:r>
              <a:rPr lang="en-US" sz="700" kern="0" spc="200" dirty="0">
                <a:solidFill>
                  <a:srgbClr val="5A7A9A"/>
                </a:solidFill>
                <a:latin typeface="Calibri" pitchFamily="34" charset="0"/>
                <a:ea typeface="Calibri" pitchFamily="34" charset="-122"/>
                <a:cs typeface="Calibri" pitchFamily="34" charset="-120"/>
              </a:rPr>
              <a:t>FORMULA 1 · MULTI-AGENT · EXPLAINABLE AI</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080F"/>
        </a:solidFill>
        <a:effectLst/>
      </p:bgPr>
    </p:bg>
    <p:spTree>
      <p:nvGrpSpPr>
        <p:cNvPr id="1" name=""/>
        <p:cNvGrpSpPr/>
        <p:nvPr/>
      </p:nvGrpSpPr>
      <p:grpSpPr>
        <a:xfrm>
          <a:off x="0" y="0"/>
          <a:ext cx="0" cy="0"/>
          <a:chOff x="0" y="0"/>
          <a:chExt cx="0" cy="0"/>
        </a:xfrm>
      </p:grpSpPr>
      <p:sp>
        <p:nvSpPr>
          <p:cNvPr id="2" name="Text 0"/>
          <p:cNvSpPr/>
          <p:nvPr/>
        </p:nvSpPr>
        <p:spPr>
          <a:xfrm>
            <a:off x="548640" y="365760"/>
            <a:ext cx="3657600" cy="256032"/>
          </a:xfrm>
          <a:prstGeom prst="rect">
            <a:avLst/>
          </a:prstGeom>
          <a:noFill/>
          <a:ln/>
        </p:spPr>
        <p:txBody>
          <a:bodyPr wrap="square" rtlCol="0" anchor="ctr"/>
          <a:lstStyle/>
          <a:p>
            <a:pPr marL="0" indent="0">
              <a:buNone/>
            </a:pPr>
            <a:r>
              <a:rPr lang="en-US" sz="850" b="1" kern="0" spc="300" dirty="0">
                <a:solidFill>
                  <a:srgbClr val="00AAFF"/>
                </a:solidFill>
                <a:latin typeface="Calibri" pitchFamily="34" charset="0"/>
                <a:ea typeface="Calibri" pitchFamily="34" charset="-122"/>
                <a:cs typeface="Calibri" pitchFamily="34" charset="-120"/>
              </a:rPr>
              <a:t>01  /  THE PROBLEM</a:t>
            </a:r>
            <a:endParaRPr lang="en-US" sz="850" dirty="0"/>
          </a:p>
        </p:txBody>
      </p:sp>
      <p:sp>
        <p:nvSpPr>
          <p:cNvPr id="3" name="Text 1"/>
          <p:cNvSpPr/>
          <p:nvPr/>
        </p:nvSpPr>
        <p:spPr>
          <a:xfrm>
            <a:off x="502920" y="749808"/>
            <a:ext cx="3657600" cy="2560320"/>
          </a:xfrm>
          <a:prstGeom prst="rect">
            <a:avLst/>
          </a:prstGeom>
          <a:noFill/>
          <a:ln/>
        </p:spPr>
        <p:txBody>
          <a:bodyPr wrap="square" rtlCol="0" anchor="ctr"/>
          <a:lstStyle/>
          <a:p>
            <a:pPr marL="0" indent="0">
              <a:lnSpc>
                <a:spcPct val="110000"/>
              </a:lnSpc>
              <a:buNone/>
            </a:pPr>
            <a:r>
              <a:rPr lang="en-US" sz="4400" b="1" dirty="0">
                <a:solidFill>
                  <a:srgbClr val="FFFFFF"/>
                </a:solidFill>
                <a:latin typeface="Calibri" pitchFamily="34" charset="0"/>
                <a:ea typeface="Calibri" pitchFamily="34" charset="-122"/>
                <a:cs typeface="Calibri" pitchFamily="34" charset="-120"/>
              </a:rPr>
              <a:t>AI was</a:t>
            </a:r>
            <a:endParaRPr lang="en-US" sz="4400" dirty="0"/>
          </a:p>
          <a:p>
            <a:pPr marL="0" indent="0">
              <a:lnSpc>
                <a:spcPct val="110000"/>
              </a:lnSpc>
              <a:buNone/>
            </a:pPr>
            <a:r>
              <a:rPr lang="en-US" sz="4400" b="1" dirty="0">
                <a:solidFill>
                  <a:srgbClr val="FFFFFF"/>
                </a:solidFill>
                <a:latin typeface="Calibri" pitchFamily="34" charset="0"/>
                <a:ea typeface="Calibri" pitchFamily="34" charset="-122"/>
                <a:cs typeface="Calibri" pitchFamily="34" charset="-120"/>
              </a:rPr>
              <a:t>confident.</a:t>
            </a:r>
            <a:endParaRPr lang="en-US" sz="4400" dirty="0"/>
          </a:p>
          <a:p>
            <a:pPr marL="0" indent="0">
              <a:lnSpc>
                <a:spcPct val="110000"/>
              </a:lnSpc>
              <a:buNone/>
            </a:pPr>
            <a:r>
              <a:rPr lang="en-US" sz="4400" b="1" dirty="0">
                <a:solidFill>
                  <a:srgbClr val="FFFFFF"/>
                </a:solidFill>
                <a:latin typeface="Calibri" pitchFamily="34" charset="0"/>
                <a:ea typeface="Calibri" pitchFamily="34" charset="-122"/>
                <a:cs typeface="Calibri" pitchFamily="34" charset="-120"/>
              </a:rPr>
              <a:t>And wrong.</a:t>
            </a:r>
            <a:endParaRPr lang="en-US" sz="4400" dirty="0"/>
          </a:p>
        </p:txBody>
      </p:sp>
      <p:sp>
        <p:nvSpPr>
          <p:cNvPr id="4" name="Text 2"/>
          <p:cNvSpPr/>
          <p:nvPr/>
        </p:nvSpPr>
        <p:spPr>
          <a:xfrm>
            <a:off x="548640" y="3429000"/>
            <a:ext cx="3657600" cy="914400"/>
          </a:xfrm>
          <a:prstGeom prst="rect">
            <a:avLst/>
          </a:prstGeom>
          <a:noFill/>
          <a:ln/>
        </p:spPr>
        <p:txBody>
          <a:bodyPr wrap="square" rtlCol="0" anchor="ctr"/>
          <a:lstStyle/>
          <a:p>
            <a:pPr marL="0" indent="0">
              <a:spcAft>
                <a:spcPts val="400"/>
              </a:spcAft>
              <a:buNone/>
            </a:pPr>
            <a:r>
              <a:rPr lang="en-US" sz="1200" dirty="0">
                <a:solidFill>
                  <a:srgbClr val="C8D8E8"/>
                </a:solidFill>
                <a:latin typeface="Calibri" pitchFamily="34" charset="0"/>
                <a:ea typeface="Calibri" pitchFamily="34" charset="-122"/>
                <a:cs typeface="Calibri" pitchFamily="34" charset="-120"/>
              </a:rPr>
              <a:t>In early versions, a single LLM generated race predictions directly — and predicted the championship leader to win every race, regardless of circuit or form.</a:t>
            </a:r>
            <a:endParaRPr lang="en-US" sz="1200" dirty="0"/>
          </a:p>
        </p:txBody>
      </p:sp>
      <p:sp>
        <p:nvSpPr>
          <p:cNvPr id="5" name="Shape 3"/>
          <p:cNvSpPr/>
          <p:nvPr/>
        </p:nvSpPr>
        <p:spPr>
          <a:xfrm>
            <a:off x="4572000" y="457200"/>
            <a:ext cx="0" cy="4389120"/>
          </a:xfrm>
          <a:prstGeom prst="line">
            <a:avLst/>
          </a:prstGeom>
          <a:noFill/>
          <a:ln w="6350">
            <a:solidFill>
              <a:srgbClr val="5A7A9A"/>
            </a:solidFill>
            <a:prstDash val="solid"/>
          </a:ln>
        </p:spPr>
      </p:sp>
      <p:sp>
        <p:nvSpPr>
          <p:cNvPr id="6" name="Text 4"/>
          <p:cNvSpPr/>
          <p:nvPr/>
        </p:nvSpPr>
        <p:spPr>
          <a:xfrm>
            <a:off x="4892040" y="566928"/>
            <a:ext cx="640080" cy="457200"/>
          </a:xfrm>
          <a:prstGeom prst="rect">
            <a:avLst/>
          </a:prstGeom>
          <a:noFill/>
          <a:ln/>
        </p:spPr>
        <p:txBody>
          <a:bodyPr wrap="square" rtlCol="0" anchor="ctr"/>
          <a:lstStyle/>
          <a:p>
            <a:pPr marL="0" indent="0">
              <a:buNone/>
            </a:pPr>
            <a:r>
              <a:rPr lang="en-US" sz="1100" b="1" dirty="0">
                <a:solidFill>
                  <a:srgbClr val="00AAFF"/>
                </a:solidFill>
                <a:latin typeface="Calibri" pitchFamily="34" charset="0"/>
                <a:ea typeface="Calibri" pitchFamily="34" charset="-122"/>
                <a:cs typeface="Calibri" pitchFamily="34" charset="-120"/>
              </a:rPr>
              <a:t>01</a:t>
            </a:r>
            <a:endParaRPr lang="en-US" sz="1100" dirty="0"/>
          </a:p>
        </p:txBody>
      </p:sp>
      <p:sp>
        <p:nvSpPr>
          <p:cNvPr id="7" name="Text 5"/>
          <p:cNvSpPr/>
          <p:nvPr/>
        </p:nvSpPr>
        <p:spPr>
          <a:xfrm>
            <a:off x="5486400" y="566928"/>
            <a:ext cx="3383280" cy="41148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Hallucination</a:t>
            </a:r>
            <a:endParaRPr lang="en-US" sz="1600" dirty="0"/>
          </a:p>
        </p:txBody>
      </p:sp>
      <p:sp>
        <p:nvSpPr>
          <p:cNvPr id="8" name="Text 6"/>
          <p:cNvSpPr/>
          <p:nvPr/>
        </p:nvSpPr>
        <p:spPr>
          <a:xfrm>
            <a:off x="5486400" y="978408"/>
            <a:ext cx="3383280" cy="685800"/>
          </a:xfrm>
          <a:prstGeom prst="rect">
            <a:avLst/>
          </a:prstGeom>
          <a:noFill/>
          <a:ln/>
        </p:spPr>
        <p:txBody>
          <a:bodyPr wrap="square" rtlCol="0" anchor="ctr"/>
          <a:lstStyle/>
          <a:p>
            <a:pPr marL="0" indent="0">
              <a:buNone/>
            </a:pPr>
            <a:r>
              <a:rPr lang="en-US" sz="1100" dirty="0">
                <a:solidFill>
                  <a:srgbClr val="C8D8E8"/>
                </a:solidFill>
                <a:latin typeface="Calibri" pitchFamily="34" charset="0"/>
                <a:ea typeface="Calibri" pitchFamily="34" charset="-122"/>
                <a:cs typeface="Calibri" pitchFamily="34" charset="-120"/>
              </a:rPr>
              <a:t>LLMs generate plausible-sounding but factually wrong predictions</a:t>
            </a:r>
            <a:endParaRPr lang="en-US" sz="1100" dirty="0"/>
          </a:p>
        </p:txBody>
      </p:sp>
      <p:sp>
        <p:nvSpPr>
          <p:cNvPr id="9" name="Shape 7"/>
          <p:cNvSpPr/>
          <p:nvPr/>
        </p:nvSpPr>
        <p:spPr>
          <a:xfrm>
            <a:off x="4892040" y="1801368"/>
            <a:ext cx="3794760" cy="0"/>
          </a:xfrm>
          <a:prstGeom prst="line">
            <a:avLst/>
          </a:prstGeom>
          <a:noFill/>
          <a:ln w="5080">
            <a:solidFill>
              <a:srgbClr val="5A7A9A"/>
            </a:solidFill>
            <a:prstDash val="dash"/>
          </a:ln>
        </p:spPr>
      </p:sp>
      <p:sp>
        <p:nvSpPr>
          <p:cNvPr id="10" name="Text 8"/>
          <p:cNvSpPr/>
          <p:nvPr/>
        </p:nvSpPr>
        <p:spPr>
          <a:xfrm>
            <a:off x="4892040" y="1984248"/>
            <a:ext cx="640080" cy="457200"/>
          </a:xfrm>
          <a:prstGeom prst="rect">
            <a:avLst/>
          </a:prstGeom>
          <a:noFill/>
          <a:ln/>
        </p:spPr>
        <p:txBody>
          <a:bodyPr wrap="square" rtlCol="0" anchor="ctr"/>
          <a:lstStyle/>
          <a:p>
            <a:pPr marL="0" indent="0">
              <a:buNone/>
            </a:pPr>
            <a:r>
              <a:rPr lang="en-US" sz="1100" b="1" dirty="0">
                <a:solidFill>
                  <a:srgbClr val="00AAFF"/>
                </a:solidFill>
                <a:latin typeface="Calibri" pitchFamily="34" charset="0"/>
                <a:ea typeface="Calibri" pitchFamily="34" charset="-122"/>
                <a:cs typeface="Calibri" pitchFamily="34" charset="-120"/>
              </a:rPr>
              <a:t>02</a:t>
            </a:r>
            <a:endParaRPr lang="en-US" sz="1100" dirty="0"/>
          </a:p>
        </p:txBody>
      </p:sp>
      <p:sp>
        <p:nvSpPr>
          <p:cNvPr id="11" name="Text 9"/>
          <p:cNvSpPr/>
          <p:nvPr/>
        </p:nvSpPr>
        <p:spPr>
          <a:xfrm>
            <a:off x="5486400" y="1984248"/>
            <a:ext cx="3383280" cy="41148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No Separation of Concerns</a:t>
            </a:r>
            <a:endParaRPr lang="en-US" sz="1600" dirty="0"/>
          </a:p>
        </p:txBody>
      </p:sp>
      <p:sp>
        <p:nvSpPr>
          <p:cNvPr id="12" name="Text 10"/>
          <p:cNvSpPr/>
          <p:nvPr/>
        </p:nvSpPr>
        <p:spPr>
          <a:xfrm>
            <a:off x="5486400" y="2395728"/>
            <a:ext cx="3383280" cy="685800"/>
          </a:xfrm>
          <a:prstGeom prst="rect">
            <a:avLst/>
          </a:prstGeom>
          <a:noFill/>
          <a:ln/>
        </p:spPr>
        <p:txBody>
          <a:bodyPr wrap="square" rtlCol="0" anchor="ctr"/>
          <a:lstStyle/>
          <a:p>
            <a:pPr marL="0" indent="0">
              <a:buNone/>
            </a:pPr>
            <a:r>
              <a:rPr lang="en-US" sz="1100" dirty="0">
                <a:solidFill>
                  <a:srgbClr val="C8D8E8"/>
                </a:solidFill>
                <a:latin typeface="Calibri" pitchFamily="34" charset="0"/>
                <a:ea typeface="Calibri" pitchFamily="34" charset="-122"/>
                <a:cs typeface="Calibri" pitchFamily="34" charset="-120"/>
              </a:rPr>
              <a:t>Business logic, retrieval and reasoning tangled inside one model</a:t>
            </a:r>
            <a:endParaRPr lang="en-US" sz="1100" dirty="0"/>
          </a:p>
        </p:txBody>
      </p:sp>
      <p:sp>
        <p:nvSpPr>
          <p:cNvPr id="13" name="Shape 11"/>
          <p:cNvSpPr/>
          <p:nvPr/>
        </p:nvSpPr>
        <p:spPr>
          <a:xfrm>
            <a:off x="4892040" y="3218688"/>
            <a:ext cx="3794760" cy="0"/>
          </a:xfrm>
          <a:prstGeom prst="line">
            <a:avLst/>
          </a:prstGeom>
          <a:noFill/>
          <a:ln w="5080">
            <a:solidFill>
              <a:srgbClr val="5A7A9A"/>
            </a:solidFill>
            <a:prstDash val="dash"/>
          </a:ln>
        </p:spPr>
      </p:sp>
      <p:sp>
        <p:nvSpPr>
          <p:cNvPr id="14" name="Text 12"/>
          <p:cNvSpPr/>
          <p:nvPr/>
        </p:nvSpPr>
        <p:spPr>
          <a:xfrm>
            <a:off x="4892040" y="3401568"/>
            <a:ext cx="640080" cy="457200"/>
          </a:xfrm>
          <a:prstGeom prst="rect">
            <a:avLst/>
          </a:prstGeom>
          <a:noFill/>
          <a:ln/>
        </p:spPr>
        <p:txBody>
          <a:bodyPr wrap="square" rtlCol="0" anchor="ctr"/>
          <a:lstStyle/>
          <a:p>
            <a:pPr marL="0" indent="0">
              <a:buNone/>
            </a:pPr>
            <a:r>
              <a:rPr lang="en-US" sz="1100" b="1" dirty="0">
                <a:solidFill>
                  <a:srgbClr val="00AAFF"/>
                </a:solidFill>
                <a:latin typeface="Calibri" pitchFamily="34" charset="0"/>
                <a:ea typeface="Calibri" pitchFamily="34" charset="-122"/>
                <a:cs typeface="Calibri" pitchFamily="34" charset="-120"/>
              </a:rPr>
              <a:t>03</a:t>
            </a:r>
            <a:endParaRPr lang="en-US" sz="1100" dirty="0"/>
          </a:p>
        </p:txBody>
      </p:sp>
      <p:sp>
        <p:nvSpPr>
          <p:cNvPr id="15" name="Text 13"/>
          <p:cNvSpPr/>
          <p:nvPr/>
        </p:nvSpPr>
        <p:spPr>
          <a:xfrm>
            <a:off x="5486400" y="3401568"/>
            <a:ext cx="3383280" cy="41148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No Memory</a:t>
            </a:r>
            <a:endParaRPr lang="en-US" sz="1600" dirty="0"/>
          </a:p>
        </p:txBody>
      </p:sp>
      <p:sp>
        <p:nvSpPr>
          <p:cNvPr id="16" name="Text 14"/>
          <p:cNvSpPr/>
          <p:nvPr/>
        </p:nvSpPr>
        <p:spPr>
          <a:xfrm>
            <a:off x="5486400" y="3813048"/>
            <a:ext cx="3383280" cy="685800"/>
          </a:xfrm>
          <a:prstGeom prst="rect">
            <a:avLst/>
          </a:prstGeom>
          <a:noFill/>
          <a:ln/>
        </p:spPr>
        <p:txBody>
          <a:bodyPr wrap="square" rtlCol="0" anchor="ctr"/>
          <a:lstStyle/>
          <a:p>
            <a:pPr marL="0" indent="0">
              <a:buNone/>
            </a:pPr>
            <a:r>
              <a:rPr lang="en-US" sz="1100" dirty="0">
                <a:solidFill>
                  <a:srgbClr val="C8D8E8"/>
                </a:solidFill>
                <a:latin typeface="Calibri" pitchFamily="34" charset="0"/>
                <a:ea typeface="Calibri" pitchFamily="34" charset="-122"/>
                <a:cs typeface="Calibri" pitchFamily="34" charset="-120"/>
              </a:rPr>
              <a:t>Every query starts fresh — no context, no follow-up intelligence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080F"/>
        </a:solidFill>
        <a:effectLst/>
      </p:bgPr>
    </p:bg>
    <p:spTree>
      <p:nvGrpSpPr>
        <p:cNvPr id="1" name=""/>
        <p:cNvGrpSpPr/>
        <p:nvPr/>
      </p:nvGrpSpPr>
      <p:grpSpPr>
        <a:xfrm>
          <a:off x="0" y="0"/>
          <a:ext cx="0" cy="0"/>
          <a:chOff x="0" y="0"/>
          <a:chExt cx="0" cy="0"/>
        </a:xfrm>
      </p:grpSpPr>
      <p:sp>
        <p:nvSpPr>
          <p:cNvPr id="2" name="Text 0"/>
          <p:cNvSpPr/>
          <p:nvPr/>
        </p:nvSpPr>
        <p:spPr>
          <a:xfrm>
            <a:off x="548640" y="365760"/>
            <a:ext cx="4572000" cy="256032"/>
          </a:xfrm>
          <a:prstGeom prst="rect">
            <a:avLst/>
          </a:prstGeom>
          <a:noFill/>
          <a:ln/>
        </p:spPr>
        <p:txBody>
          <a:bodyPr wrap="square" rtlCol="0" anchor="ctr"/>
          <a:lstStyle/>
          <a:p>
            <a:pPr marL="0" indent="0">
              <a:buNone/>
            </a:pPr>
            <a:r>
              <a:rPr lang="en-US" sz="850" b="1" kern="0" spc="300" dirty="0">
                <a:solidFill>
                  <a:srgbClr val="00AAFF"/>
                </a:solidFill>
                <a:latin typeface="Calibri" pitchFamily="34" charset="0"/>
                <a:ea typeface="Calibri" pitchFamily="34" charset="-122"/>
                <a:cs typeface="Calibri" pitchFamily="34" charset="-120"/>
              </a:rPr>
              <a:t>02  /  THE INSIGHT</a:t>
            </a:r>
            <a:endParaRPr lang="en-US" sz="850" dirty="0"/>
          </a:p>
        </p:txBody>
      </p:sp>
      <p:sp>
        <p:nvSpPr>
          <p:cNvPr id="3" name="Text 1"/>
          <p:cNvSpPr/>
          <p:nvPr/>
        </p:nvSpPr>
        <p:spPr>
          <a:xfrm>
            <a:off x="548640" y="621792"/>
            <a:ext cx="8229600" cy="2926080"/>
          </a:xfrm>
          <a:prstGeom prst="rect">
            <a:avLst/>
          </a:prstGeom>
          <a:noFill/>
          <a:ln/>
        </p:spPr>
        <p:txBody>
          <a:bodyPr wrap="square" rtlCol="0" anchor="ctr"/>
          <a:lstStyle/>
          <a:p>
            <a:pPr marL="0" indent="0">
              <a:lnSpc>
                <a:spcPct val="115000"/>
              </a:lnSpc>
              <a:buNone/>
            </a:pPr>
            <a:r>
              <a:rPr lang="en-US" sz="4800" b="1" dirty="0">
                <a:solidFill>
                  <a:srgbClr val="FFFFFF"/>
                </a:solidFill>
                <a:latin typeface="Calibri" pitchFamily="34" charset="0"/>
                <a:ea typeface="Calibri" pitchFamily="34" charset="-122"/>
                <a:cs typeface="Calibri" pitchFamily="34" charset="-120"/>
              </a:rPr>
              <a:t>LLMs should</a:t>
            </a:r>
            <a:endParaRPr lang="en-US" sz="4800" dirty="0"/>
          </a:p>
          <a:p>
            <a:pPr marL="0" indent="0">
              <a:lnSpc>
                <a:spcPct val="115000"/>
              </a:lnSpc>
              <a:buNone/>
            </a:pPr>
            <a:r>
              <a:rPr lang="en-US" sz="4800" b="1" dirty="0">
                <a:solidFill>
                  <a:srgbClr val="FFFFFF"/>
                </a:solidFill>
                <a:latin typeface="Calibri" pitchFamily="34" charset="0"/>
                <a:ea typeface="Calibri" pitchFamily="34" charset="-122"/>
                <a:cs typeface="Calibri" pitchFamily="34" charset="-120"/>
              </a:rPr>
              <a:t>explain results.</a:t>
            </a:r>
            <a:endParaRPr lang="en-US" sz="4800" dirty="0"/>
          </a:p>
          <a:p>
            <a:pPr marL="0" indent="0">
              <a:lnSpc>
                <a:spcPct val="115000"/>
              </a:lnSpc>
              <a:buNone/>
            </a:pPr>
            <a:r>
              <a:rPr lang="en-US" sz="4800" b="1" dirty="0">
                <a:solidFill>
                  <a:srgbClr val="FFFFFF"/>
                </a:solidFill>
                <a:latin typeface="Calibri" pitchFamily="34" charset="0"/>
                <a:ea typeface="Calibri" pitchFamily="34" charset="-122"/>
                <a:cs typeface="Calibri" pitchFamily="34" charset="-120"/>
              </a:rPr>
              <a:t>Not compute them.</a:t>
            </a:r>
            <a:endParaRPr lang="en-US" sz="4800" dirty="0"/>
          </a:p>
        </p:txBody>
      </p:sp>
      <p:sp>
        <p:nvSpPr>
          <p:cNvPr id="4" name="Shape 2"/>
          <p:cNvSpPr/>
          <p:nvPr/>
        </p:nvSpPr>
        <p:spPr>
          <a:xfrm>
            <a:off x="671040" y="3524472"/>
            <a:ext cx="4114800" cy="0"/>
          </a:xfrm>
          <a:prstGeom prst="line">
            <a:avLst/>
          </a:prstGeom>
          <a:noFill/>
          <a:ln w="19050">
            <a:solidFill>
              <a:srgbClr val="00AAFF"/>
            </a:solidFill>
            <a:prstDash val="solid"/>
          </a:ln>
        </p:spPr>
        <p:txBody>
          <a:bodyPr/>
          <a:lstStyle/>
          <a:p>
            <a:endParaRPr lang="en-IN" dirty="0"/>
          </a:p>
        </p:txBody>
      </p:sp>
      <p:sp>
        <p:nvSpPr>
          <p:cNvPr id="5" name="Text 3"/>
          <p:cNvSpPr/>
          <p:nvPr/>
        </p:nvSpPr>
        <p:spPr>
          <a:xfrm>
            <a:off x="548640" y="3728628"/>
            <a:ext cx="8046720" cy="822960"/>
          </a:xfrm>
          <a:prstGeom prst="rect">
            <a:avLst/>
          </a:prstGeom>
          <a:noFill/>
          <a:ln/>
        </p:spPr>
        <p:txBody>
          <a:bodyPr wrap="square" rtlCol="0" anchor="ctr"/>
          <a:lstStyle/>
          <a:p>
            <a:pPr marL="0" indent="0">
              <a:buNone/>
            </a:pPr>
            <a:r>
              <a:rPr lang="en-US" sz="1250" dirty="0">
                <a:solidFill>
                  <a:srgbClr val="C8D8E8"/>
                </a:solidFill>
                <a:latin typeface="Calibri" pitchFamily="34" charset="0"/>
                <a:ea typeface="Calibri" pitchFamily="34" charset="-122"/>
                <a:cs typeface="Calibri" pitchFamily="34" charset="-120"/>
              </a:rPr>
              <a:t>The solution was not better prompting. It was a complete architectural redesign: move all computation, retrieval and ranking into specialized agents — and let the language model do only what it does well: narrate.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5080F"/>
        </a:solidFill>
        <a:effectLst/>
      </p:bgPr>
    </p:bg>
    <p:spTree>
      <p:nvGrpSpPr>
        <p:cNvPr id="1" name=""/>
        <p:cNvGrpSpPr/>
        <p:nvPr/>
      </p:nvGrpSpPr>
      <p:grpSpPr>
        <a:xfrm>
          <a:off x="0" y="0"/>
          <a:ext cx="0" cy="0"/>
          <a:chOff x="0" y="0"/>
          <a:chExt cx="0" cy="0"/>
        </a:xfrm>
      </p:grpSpPr>
      <p:sp>
        <p:nvSpPr>
          <p:cNvPr id="2" name="Text 0"/>
          <p:cNvSpPr/>
          <p:nvPr/>
        </p:nvSpPr>
        <p:spPr>
          <a:xfrm>
            <a:off x="548640" y="365760"/>
            <a:ext cx="4572000" cy="256032"/>
          </a:xfrm>
          <a:prstGeom prst="rect">
            <a:avLst/>
          </a:prstGeom>
          <a:noFill/>
          <a:ln/>
        </p:spPr>
        <p:txBody>
          <a:bodyPr wrap="square" rtlCol="0" anchor="ctr"/>
          <a:lstStyle/>
          <a:p>
            <a:pPr marL="0" indent="0">
              <a:buNone/>
            </a:pPr>
            <a:r>
              <a:rPr lang="en-US" sz="850" b="1" kern="0" spc="300" dirty="0">
                <a:solidFill>
                  <a:srgbClr val="00AAFF"/>
                </a:solidFill>
                <a:latin typeface="Calibri" pitchFamily="34" charset="0"/>
                <a:ea typeface="Calibri" pitchFamily="34" charset="-122"/>
                <a:cs typeface="Calibri" pitchFamily="34" charset="-120"/>
              </a:rPr>
              <a:t>03  /  ARCHITECTURE</a:t>
            </a:r>
            <a:endParaRPr lang="en-US" sz="850" dirty="0"/>
          </a:p>
        </p:txBody>
      </p:sp>
      <p:sp>
        <p:nvSpPr>
          <p:cNvPr id="3" name="Text 1"/>
          <p:cNvSpPr/>
          <p:nvPr/>
        </p:nvSpPr>
        <p:spPr>
          <a:xfrm>
            <a:off x="457200" y="570600"/>
            <a:ext cx="5029200" cy="64008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Multi-Agent Orchestration</a:t>
            </a:r>
            <a:endParaRPr lang="en-US" sz="3400" dirty="0"/>
          </a:p>
        </p:txBody>
      </p:sp>
      <p:sp>
        <p:nvSpPr>
          <p:cNvPr id="4" name="Shape 2"/>
          <p:cNvSpPr/>
          <p:nvPr/>
        </p:nvSpPr>
        <p:spPr>
          <a:xfrm>
            <a:off x="457200" y="1108802"/>
            <a:ext cx="5029200" cy="3874678"/>
          </a:xfrm>
          <a:prstGeom prst="roundRect">
            <a:avLst>
              <a:gd name="adj" fmla="val 2051"/>
            </a:avLst>
          </a:prstGeom>
          <a:solidFill>
            <a:srgbClr val="0D1E35"/>
          </a:solidFill>
          <a:ln w="6350">
            <a:solidFill>
              <a:srgbClr val="5A7A9A"/>
            </a:solidFill>
            <a:prstDash val="solid"/>
          </a:ln>
        </p:spPr>
      </p:sp>
      <p:pic>
        <p:nvPicPr>
          <p:cNvPr id="5" name="Image 0" descr="preencoded.png"/>
          <p:cNvPicPr>
            <a:picLocks noChangeAspect="1"/>
          </p:cNvPicPr>
          <p:nvPr/>
        </p:nvPicPr>
        <p:blipFill>
          <a:blip r:embed="rId3"/>
          <a:srcRect/>
          <a:stretch/>
        </p:blipFill>
        <p:spPr>
          <a:xfrm>
            <a:off x="548640" y="1159995"/>
            <a:ext cx="4892040" cy="3777766"/>
          </a:xfrm>
          <a:prstGeom prst="rect">
            <a:avLst/>
          </a:prstGeom>
        </p:spPr>
      </p:pic>
      <p:sp>
        <p:nvSpPr>
          <p:cNvPr id="6" name="Text 3"/>
          <p:cNvSpPr/>
          <p:nvPr/>
        </p:nvSpPr>
        <p:spPr>
          <a:xfrm>
            <a:off x="5760720" y="1389888"/>
            <a:ext cx="502920" cy="320040"/>
          </a:xfrm>
          <a:prstGeom prst="rect">
            <a:avLst/>
          </a:prstGeom>
          <a:noFill/>
          <a:ln/>
        </p:spPr>
        <p:txBody>
          <a:bodyPr wrap="square" rtlCol="0" anchor="ctr"/>
          <a:lstStyle/>
          <a:p>
            <a:pPr marL="0" indent="0">
              <a:buNone/>
            </a:pPr>
            <a:r>
              <a:rPr lang="en-US" sz="900" b="1" dirty="0">
                <a:solidFill>
                  <a:srgbClr val="00AAFF"/>
                </a:solidFill>
                <a:latin typeface="Calibri" pitchFamily="34" charset="0"/>
                <a:ea typeface="Calibri" pitchFamily="34" charset="-122"/>
                <a:cs typeface="Calibri" pitchFamily="34" charset="-120"/>
              </a:rPr>
              <a:t>01</a:t>
            </a:r>
            <a:endParaRPr lang="en-US" sz="900" dirty="0"/>
          </a:p>
        </p:txBody>
      </p:sp>
      <p:sp>
        <p:nvSpPr>
          <p:cNvPr id="7" name="Text 4"/>
          <p:cNvSpPr/>
          <p:nvPr/>
        </p:nvSpPr>
        <p:spPr>
          <a:xfrm>
            <a:off x="6263640" y="1389888"/>
            <a:ext cx="27432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Orchestrator</a:t>
            </a:r>
            <a:endParaRPr lang="en-US" sz="1300" dirty="0"/>
          </a:p>
        </p:txBody>
      </p:sp>
      <p:sp>
        <p:nvSpPr>
          <p:cNvPr id="8" name="Text 5"/>
          <p:cNvSpPr/>
          <p:nvPr/>
        </p:nvSpPr>
        <p:spPr>
          <a:xfrm>
            <a:off x="6263640" y="1700784"/>
            <a:ext cx="2743200" cy="347472"/>
          </a:xfrm>
          <a:prstGeom prst="rect">
            <a:avLst/>
          </a:prstGeom>
          <a:noFill/>
          <a:ln/>
        </p:spPr>
        <p:txBody>
          <a:bodyPr wrap="square" rtlCol="0" anchor="ctr"/>
          <a:lstStyle/>
          <a:p>
            <a:pPr marL="0" indent="0">
              <a:buNone/>
            </a:pPr>
            <a:r>
              <a:rPr lang="en-US" sz="950" dirty="0">
                <a:solidFill>
                  <a:srgbClr val="5A7A9A"/>
                </a:solidFill>
                <a:latin typeface="Calibri" pitchFamily="34" charset="0"/>
                <a:ea typeface="Calibri" pitchFamily="34" charset="-122"/>
                <a:cs typeface="Calibri" pitchFamily="34" charset="-120"/>
              </a:rPr>
              <a:t>Plans queries, routes to agents, coordinates response</a:t>
            </a:r>
            <a:endParaRPr lang="en-US" sz="950" dirty="0"/>
          </a:p>
        </p:txBody>
      </p:sp>
      <p:sp>
        <p:nvSpPr>
          <p:cNvPr id="9" name="Shape 6"/>
          <p:cNvSpPr/>
          <p:nvPr/>
        </p:nvSpPr>
        <p:spPr>
          <a:xfrm>
            <a:off x="5760720" y="2057400"/>
            <a:ext cx="3246120" cy="0"/>
          </a:xfrm>
          <a:prstGeom prst="line">
            <a:avLst/>
          </a:prstGeom>
          <a:noFill/>
          <a:ln w="6350">
            <a:solidFill>
              <a:srgbClr val="1A2A3A"/>
            </a:solidFill>
            <a:prstDash val="solid"/>
          </a:ln>
        </p:spPr>
      </p:sp>
      <p:sp>
        <p:nvSpPr>
          <p:cNvPr id="10" name="Text 7"/>
          <p:cNvSpPr/>
          <p:nvPr/>
        </p:nvSpPr>
        <p:spPr>
          <a:xfrm>
            <a:off x="5760720" y="2103120"/>
            <a:ext cx="502920" cy="320040"/>
          </a:xfrm>
          <a:prstGeom prst="rect">
            <a:avLst/>
          </a:prstGeom>
          <a:noFill/>
          <a:ln/>
        </p:spPr>
        <p:txBody>
          <a:bodyPr wrap="square" rtlCol="0" anchor="ctr"/>
          <a:lstStyle/>
          <a:p>
            <a:pPr marL="0" indent="0">
              <a:buNone/>
            </a:pPr>
            <a:r>
              <a:rPr lang="en-US" sz="900" b="1" dirty="0">
                <a:solidFill>
                  <a:srgbClr val="00AAFF"/>
                </a:solidFill>
                <a:latin typeface="Calibri" pitchFamily="34" charset="0"/>
                <a:ea typeface="Calibri" pitchFamily="34" charset="-122"/>
                <a:cs typeface="Calibri" pitchFamily="34" charset="-120"/>
              </a:rPr>
              <a:t>02</a:t>
            </a:r>
            <a:endParaRPr lang="en-US" sz="900" dirty="0"/>
          </a:p>
        </p:txBody>
      </p:sp>
      <p:sp>
        <p:nvSpPr>
          <p:cNvPr id="11" name="Text 8"/>
          <p:cNvSpPr/>
          <p:nvPr/>
        </p:nvSpPr>
        <p:spPr>
          <a:xfrm>
            <a:off x="6263640" y="2103120"/>
            <a:ext cx="27432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Memory Agent</a:t>
            </a:r>
            <a:endParaRPr lang="en-US" sz="1300" dirty="0"/>
          </a:p>
        </p:txBody>
      </p:sp>
      <p:sp>
        <p:nvSpPr>
          <p:cNvPr id="12" name="Text 9"/>
          <p:cNvSpPr/>
          <p:nvPr/>
        </p:nvSpPr>
        <p:spPr>
          <a:xfrm>
            <a:off x="6263640" y="2414016"/>
            <a:ext cx="2743200" cy="347472"/>
          </a:xfrm>
          <a:prstGeom prst="rect">
            <a:avLst/>
          </a:prstGeom>
          <a:noFill/>
          <a:ln/>
        </p:spPr>
        <p:txBody>
          <a:bodyPr wrap="square" rtlCol="0" anchor="ctr"/>
          <a:lstStyle/>
          <a:p>
            <a:pPr marL="0" indent="0">
              <a:buNone/>
            </a:pPr>
            <a:r>
              <a:rPr lang="en-US" sz="950" dirty="0">
                <a:solidFill>
                  <a:srgbClr val="5A7A9A"/>
                </a:solidFill>
                <a:latin typeface="Calibri" pitchFamily="34" charset="0"/>
                <a:ea typeface="Calibri" pitchFamily="34" charset="-122"/>
                <a:cs typeface="Calibri" pitchFamily="34" charset="-120"/>
              </a:rPr>
              <a:t>Circuit &amp; driver intelligence, precomputed profiles</a:t>
            </a:r>
            <a:endParaRPr lang="en-US" sz="950" dirty="0"/>
          </a:p>
        </p:txBody>
      </p:sp>
      <p:sp>
        <p:nvSpPr>
          <p:cNvPr id="13" name="Shape 10"/>
          <p:cNvSpPr/>
          <p:nvPr/>
        </p:nvSpPr>
        <p:spPr>
          <a:xfrm>
            <a:off x="5760720" y="2770632"/>
            <a:ext cx="3246120" cy="0"/>
          </a:xfrm>
          <a:prstGeom prst="line">
            <a:avLst/>
          </a:prstGeom>
          <a:noFill/>
          <a:ln w="6350">
            <a:solidFill>
              <a:srgbClr val="1A2A3A"/>
            </a:solidFill>
            <a:prstDash val="solid"/>
          </a:ln>
        </p:spPr>
      </p:sp>
      <p:sp>
        <p:nvSpPr>
          <p:cNvPr id="14" name="Text 11"/>
          <p:cNvSpPr/>
          <p:nvPr/>
        </p:nvSpPr>
        <p:spPr>
          <a:xfrm>
            <a:off x="5760720" y="2816352"/>
            <a:ext cx="502920" cy="320040"/>
          </a:xfrm>
          <a:prstGeom prst="rect">
            <a:avLst/>
          </a:prstGeom>
          <a:noFill/>
          <a:ln/>
        </p:spPr>
        <p:txBody>
          <a:bodyPr wrap="square" rtlCol="0" anchor="ctr"/>
          <a:lstStyle/>
          <a:p>
            <a:pPr marL="0" indent="0">
              <a:buNone/>
            </a:pPr>
            <a:r>
              <a:rPr lang="en-US" sz="900" b="1" dirty="0">
                <a:solidFill>
                  <a:srgbClr val="00AAFF"/>
                </a:solidFill>
                <a:latin typeface="Calibri" pitchFamily="34" charset="0"/>
                <a:ea typeface="Calibri" pitchFamily="34" charset="-122"/>
                <a:cs typeface="Calibri" pitchFamily="34" charset="-120"/>
              </a:rPr>
              <a:t>03</a:t>
            </a:r>
            <a:endParaRPr lang="en-US" sz="900" dirty="0"/>
          </a:p>
        </p:txBody>
      </p:sp>
      <p:sp>
        <p:nvSpPr>
          <p:cNvPr id="15" name="Text 12"/>
          <p:cNvSpPr/>
          <p:nvPr/>
        </p:nvSpPr>
        <p:spPr>
          <a:xfrm>
            <a:off x="6263640" y="2816352"/>
            <a:ext cx="27432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Data Agent</a:t>
            </a:r>
            <a:endParaRPr lang="en-US" sz="1300" dirty="0"/>
          </a:p>
        </p:txBody>
      </p:sp>
      <p:sp>
        <p:nvSpPr>
          <p:cNvPr id="16" name="Text 13"/>
          <p:cNvSpPr/>
          <p:nvPr/>
        </p:nvSpPr>
        <p:spPr>
          <a:xfrm>
            <a:off x="6263640" y="3127248"/>
            <a:ext cx="2743200" cy="347472"/>
          </a:xfrm>
          <a:prstGeom prst="rect">
            <a:avLst/>
          </a:prstGeom>
          <a:noFill/>
          <a:ln/>
        </p:spPr>
        <p:txBody>
          <a:bodyPr wrap="square" rtlCol="0" anchor="ctr"/>
          <a:lstStyle/>
          <a:p>
            <a:pPr marL="0" indent="0">
              <a:buNone/>
            </a:pPr>
            <a:r>
              <a:rPr lang="en-US" sz="950" dirty="0">
                <a:solidFill>
                  <a:srgbClr val="5A7A9A"/>
                </a:solidFill>
                <a:latin typeface="Calibri" pitchFamily="34" charset="0"/>
                <a:ea typeface="Calibri" pitchFamily="34" charset="-122"/>
                <a:cs typeface="Calibri" pitchFamily="34" charset="-120"/>
              </a:rPr>
              <a:t>Structured DB retrieval via FastF1 + Ergast</a:t>
            </a:r>
            <a:endParaRPr lang="en-US" sz="950" dirty="0"/>
          </a:p>
        </p:txBody>
      </p:sp>
      <p:sp>
        <p:nvSpPr>
          <p:cNvPr id="17" name="Shape 14"/>
          <p:cNvSpPr/>
          <p:nvPr/>
        </p:nvSpPr>
        <p:spPr>
          <a:xfrm>
            <a:off x="5760720" y="3483864"/>
            <a:ext cx="3246120" cy="0"/>
          </a:xfrm>
          <a:prstGeom prst="line">
            <a:avLst/>
          </a:prstGeom>
          <a:noFill/>
          <a:ln w="6350">
            <a:solidFill>
              <a:srgbClr val="1A2A3A"/>
            </a:solidFill>
            <a:prstDash val="solid"/>
          </a:ln>
        </p:spPr>
      </p:sp>
      <p:sp>
        <p:nvSpPr>
          <p:cNvPr id="18" name="Text 15"/>
          <p:cNvSpPr/>
          <p:nvPr/>
        </p:nvSpPr>
        <p:spPr>
          <a:xfrm>
            <a:off x="5760720" y="3529584"/>
            <a:ext cx="502920" cy="320040"/>
          </a:xfrm>
          <a:prstGeom prst="rect">
            <a:avLst/>
          </a:prstGeom>
          <a:noFill/>
          <a:ln/>
        </p:spPr>
        <p:txBody>
          <a:bodyPr wrap="square" rtlCol="0" anchor="ctr"/>
          <a:lstStyle/>
          <a:p>
            <a:pPr marL="0" indent="0">
              <a:buNone/>
            </a:pPr>
            <a:r>
              <a:rPr lang="en-US" sz="900" b="1" dirty="0">
                <a:solidFill>
                  <a:srgbClr val="00AAFF"/>
                </a:solidFill>
                <a:latin typeface="Calibri" pitchFamily="34" charset="0"/>
                <a:ea typeface="Calibri" pitchFamily="34" charset="-122"/>
                <a:cs typeface="Calibri" pitchFamily="34" charset="-120"/>
              </a:rPr>
              <a:t>04</a:t>
            </a:r>
            <a:endParaRPr lang="en-US" sz="900" dirty="0"/>
          </a:p>
        </p:txBody>
      </p:sp>
      <p:sp>
        <p:nvSpPr>
          <p:cNvPr id="19" name="Text 16"/>
          <p:cNvSpPr/>
          <p:nvPr/>
        </p:nvSpPr>
        <p:spPr>
          <a:xfrm>
            <a:off x="6263640" y="3529584"/>
            <a:ext cx="27432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Prediction</a:t>
            </a:r>
            <a:endParaRPr lang="en-US" sz="1300" dirty="0"/>
          </a:p>
        </p:txBody>
      </p:sp>
      <p:sp>
        <p:nvSpPr>
          <p:cNvPr id="20" name="Text 17"/>
          <p:cNvSpPr/>
          <p:nvPr/>
        </p:nvSpPr>
        <p:spPr>
          <a:xfrm>
            <a:off x="6263640" y="3840480"/>
            <a:ext cx="2743200" cy="347472"/>
          </a:xfrm>
          <a:prstGeom prst="rect">
            <a:avLst/>
          </a:prstGeom>
          <a:noFill/>
          <a:ln/>
        </p:spPr>
        <p:txBody>
          <a:bodyPr wrap="square" rtlCol="0" anchor="ctr"/>
          <a:lstStyle/>
          <a:p>
            <a:pPr marL="0" indent="0">
              <a:buNone/>
            </a:pPr>
            <a:r>
              <a:rPr lang="en-US" sz="950" dirty="0">
                <a:solidFill>
                  <a:srgbClr val="5A7A9A"/>
                </a:solidFill>
                <a:latin typeface="Calibri" pitchFamily="34" charset="0"/>
                <a:ea typeface="Calibri" pitchFamily="34" charset="-122"/>
                <a:cs typeface="Calibri" pitchFamily="34" charset="-120"/>
              </a:rPr>
              <a:t>Deterministic ML scoring — never touched by LLM</a:t>
            </a:r>
            <a:endParaRPr lang="en-US" sz="950" dirty="0"/>
          </a:p>
        </p:txBody>
      </p:sp>
      <p:sp>
        <p:nvSpPr>
          <p:cNvPr id="21" name="Shape 18"/>
          <p:cNvSpPr/>
          <p:nvPr/>
        </p:nvSpPr>
        <p:spPr>
          <a:xfrm>
            <a:off x="5760720" y="4197096"/>
            <a:ext cx="3246120" cy="0"/>
          </a:xfrm>
          <a:prstGeom prst="line">
            <a:avLst/>
          </a:prstGeom>
          <a:noFill/>
          <a:ln w="6350">
            <a:solidFill>
              <a:srgbClr val="1A2A3A"/>
            </a:solidFill>
            <a:prstDash val="solid"/>
          </a:ln>
        </p:spPr>
      </p:sp>
      <p:sp>
        <p:nvSpPr>
          <p:cNvPr id="22" name="Text 19"/>
          <p:cNvSpPr/>
          <p:nvPr/>
        </p:nvSpPr>
        <p:spPr>
          <a:xfrm>
            <a:off x="5760720" y="4242816"/>
            <a:ext cx="502920" cy="320040"/>
          </a:xfrm>
          <a:prstGeom prst="rect">
            <a:avLst/>
          </a:prstGeom>
          <a:noFill/>
          <a:ln/>
        </p:spPr>
        <p:txBody>
          <a:bodyPr wrap="square" rtlCol="0" anchor="ctr"/>
          <a:lstStyle/>
          <a:p>
            <a:pPr marL="0" indent="0">
              <a:buNone/>
            </a:pPr>
            <a:r>
              <a:rPr lang="en-US" sz="900" b="1" dirty="0">
                <a:solidFill>
                  <a:srgbClr val="00AAFF"/>
                </a:solidFill>
                <a:latin typeface="Calibri" pitchFamily="34" charset="0"/>
                <a:ea typeface="Calibri" pitchFamily="34" charset="-122"/>
                <a:cs typeface="Calibri" pitchFamily="34" charset="-120"/>
              </a:rPr>
              <a:t>05</a:t>
            </a:r>
            <a:endParaRPr lang="en-US" sz="900" dirty="0"/>
          </a:p>
        </p:txBody>
      </p:sp>
      <p:sp>
        <p:nvSpPr>
          <p:cNvPr id="23" name="Text 20"/>
          <p:cNvSpPr/>
          <p:nvPr/>
        </p:nvSpPr>
        <p:spPr>
          <a:xfrm>
            <a:off x="6263640" y="4242816"/>
            <a:ext cx="27432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Analyst LLM</a:t>
            </a:r>
            <a:endParaRPr lang="en-US" sz="1300" dirty="0"/>
          </a:p>
        </p:txBody>
      </p:sp>
      <p:sp>
        <p:nvSpPr>
          <p:cNvPr id="24" name="Text 21"/>
          <p:cNvSpPr/>
          <p:nvPr/>
        </p:nvSpPr>
        <p:spPr>
          <a:xfrm>
            <a:off x="6263640" y="4553712"/>
            <a:ext cx="2743200" cy="347472"/>
          </a:xfrm>
          <a:prstGeom prst="rect">
            <a:avLst/>
          </a:prstGeom>
          <a:noFill/>
          <a:ln/>
        </p:spPr>
        <p:txBody>
          <a:bodyPr wrap="square" rtlCol="0" anchor="ctr"/>
          <a:lstStyle/>
          <a:p>
            <a:pPr marL="0" indent="0">
              <a:buNone/>
            </a:pPr>
            <a:r>
              <a:rPr lang="en-US" sz="950" dirty="0">
                <a:solidFill>
                  <a:srgbClr val="5A7A9A"/>
                </a:solidFill>
                <a:latin typeface="Calibri" pitchFamily="34" charset="0"/>
                <a:ea typeface="Calibri" pitchFamily="34" charset="-122"/>
                <a:cs typeface="Calibri" pitchFamily="34" charset="-120"/>
              </a:rPr>
              <a:t>Narrates results only — zero data computation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080F"/>
        </a:solidFill>
        <a:effectLst/>
      </p:bgPr>
    </p:bg>
    <p:spTree>
      <p:nvGrpSpPr>
        <p:cNvPr id="1" name=""/>
        <p:cNvGrpSpPr/>
        <p:nvPr/>
      </p:nvGrpSpPr>
      <p:grpSpPr>
        <a:xfrm>
          <a:off x="0" y="0"/>
          <a:ext cx="0" cy="0"/>
          <a:chOff x="0" y="0"/>
          <a:chExt cx="0" cy="0"/>
        </a:xfrm>
      </p:grpSpPr>
      <p:sp>
        <p:nvSpPr>
          <p:cNvPr id="2" name="Text 0"/>
          <p:cNvSpPr/>
          <p:nvPr/>
        </p:nvSpPr>
        <p:spPr>
          <a:xfrm>
            <a:off x="548640" y="347472"/>
            <a:ext cx="4572000" cy="256032"/>
          </a:xfrm>
          <a:prstGeom prst="rect">
            <a:avLst/>
          </a:prstGeom>
          <a:noFill/>
          <a:ln/>
        </p:spPr>
        <p:txBody>
          <a:bodyPr wrap="square" rtlCol="0" anchor="ctr"/>
          <a:lstStyle/>
          <a:p>
            <a:pPr marL="0" indent="0">
              <a:buNone/>
            </a:pPr>
            <a:r>
              <a:rPr lang="en-US" sz="850" b="1" kern="0" spc="300" dirty="0">
                <a:solidFill>
                  <a:srgbClr val="00AAFF"/>
                </a:solidFill>
                <a:latin typeface="Calibri" pitchFamily="34" charset="0"/>
                <a:ea typeface="Calibri" pitchFamily="34" charset="-122"/>
                <a:cs typeface="Calibri" pitchFamily="34" charset="-120"/>
              </a:rPr>
              <a:t>04  /  DATA LAYER</a:t>
            </a:r>
            <a:endParaRPr lang="en-US" sz="850" dirty="0"/>
          </a:p>
        </p:txBody>
      </p:sp>
      <p:sp>
        <p:nvSpPr>
          <p:cNvPr id="3" name="Text 1"/>
          <p:cNvSpPr/>
          <p:nvPr/>
        </p:nvSpPr>
        <p:spPr>
          <a:xfrm>
            <a:off x="502920" y="658368"/>
            <a:ext cx="8229600" cy="54864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9-Table Relational Schema</a:t>
            </a:r>
            <a:endParaRPr lang="en-US" sz="3000" dirty="0"/>
          </a:p>
        </p:txBody>
      </p:sp>
      <p:sp>
        <p:nvSpPr>
          <p:cNvPr id="4" name="Shape 2"/>
          <p:cNvSpPr/>
          <p:nvPr/>
        </p:nvSpPr>
        <p:spPr>
          <a:xfrm>
            <a:off x="457200" y="1280160"/>
            <a:ext cx="8229600" cy="3200400"/>
          </a:xfrm>
          <a:prstGeom prst="roundRect">
            <a:avLst>
              <a:gd name="adj" fmla="val 2286"/>
            </a:avLst>
          </a:prstGeom>
          <a:solidFill>
            <a:srgbClr val="F5F5F0"/>
          </a:solidFill>
          <a:ln w="5080">
            <a:solidFill>
              <a:srgbClr val="5A7A9A"/>
            </a:solidFill>
            <a:prstDash val="solid"/>
          </a:ln>
        </p:spPr>
      </p:sp>
      <p:pic>
        <p:nvPicPr>
          <p:cNvPr id="5" name="Image 0" descr="preencoded.png"/>
          <p:cNvPicPr>
            <a:picLocks noChangeAspect="1"/>
          </p:cNvPicPr>
          <p:nvPr/>
        </p:nvPicPr>
        <p:blipFill>
          <a:blip r:embed="rId3"/>
          <a:srcRect/>
          <a:stretch/>
        </p:blipFill>
        <p:spPr>
          <a:xfrm>
            <a:off x="502920" y="1325880"/>
            <a:ext cx="8138160" cy="3108960"/>
          </a:xfrm>
          <a:prstGeom prst="rect">
            <a:avLst/>
          </a:prstGeom>
        </p:spPr>
      </p:pic>
      <p:sp>
        <p:nvSpPr>
          <p:cNvPr id="6" name="Text 3"/>
          <p:cNvSpPr/>
          <p:nvPr/>
        </p:nvSpPr>
        <p:spPr>
          <a:xfrm>
            <a:off x="457200" y="4645152"/>
            <a:ext cx="2103120" cy="347472"/>
          </a:xfrm>
          <a:prstGeom prst="rect">
            <a:avLst/>
          </a:prstGeom>
          <a:noFill/>
          <a:ln/>
        </p:spPr>
        <p:txBody>
          <a:bodyPr wrap="square" rtlCol="0" anchor="ctr"/>
          <a:lstStyle/>
          <a:p>
            <a:pPr marL="0" indent="0">
              <a:buNone/>
            </a:pPr>
            <a:r>
              <a:rPr lang="en-US" sz="950" dirty="0">
                <a:solidFill>
                  <a:srgbClr val="5A7A9A"/>
                </a:solidFill>
                <a:latin typeface="Calibri" pitchFamily="34" charset="0"/>
                <a:ea typeface="Calibri" pitchFamily="34" charset="-122"/>
                <a:cs typeface="Calibri" pitchFamily="34" charset="-120"/>
              </a:rPr>
              <a:t>—  FastF1 + Ergast API ingestion</a:t>
            </a:r>
            <a:endParaRPr lang="en-US" sz="950" dirty="0"/>
          </a:p>
        </p:txBody>
      </p:sp>
      <p:sp>
        <p:nvSpPr>
          <p:cNvPr id="7" name="Text 4"/>
          <p:cNvSpPr/>
          <p:nvPr/>
        </p:nvSpPr>
        <p:spPr>
          <a:xfrm>
            <a:off x="2633472" y="4645152"/>
            <a:ext cx="2103120" cy="347472"/>
          </a:xfrm>
          <a:prstGeom prst="rect">
            <a:avLst/>
          </a:prstGeom>
          <a:noFill/>
          <a:ln/>
        </p:spPr>
        <p:txBody>
          <a:bodyPr wrap="square" rtlCol="0" anchor="ctr"/>
          <a:lstStyle/>
          <a:p>
            <a:pPr marL="0" indent="0">
              <a:buNone/>
            </a:pPr>
            <a:r>
              <a:rPr lang="en-US" sz="950" dirty="0">
                <a:solidFill>
                  <a:srgbClr val="5A7A9A"/>
                </a:solidFill>
                <a:latin typeface="Calibri" pitchFamily="34" charset="0"/>
                <a:ea typeface="Calibri" pitchFamily="34" charset="-122"/>
                <a:cs typeface="Calibri" pitchFamily="34" charset="-120"/>
              </a:rPr>
              <a:t>—  Seasons 2018 – 2026</a:t>
            </a:r>
            <a:endParaRPr lang="en-US" sz="950" dirty="0"/>
          </a:p>
        </p:txBody>
      </p:sp>
      <p:sp>
        <p:nvSpPr>
          <p:cNvPr id="8" name="Text 5"/>
          <p:cNvSpPr/>
          <p:nvPr/>
        </p:nvSpPr>
        <p:spPr>
          <a:xfrm>
            <a:off x="4809744" y="4645152"/>
            <a:ext cx="2103120" cy="347472"/>
          </a:xfrm>
          <a:prstGeom prst="rect">
            <a:avLst/>
          </a:prstGeom>
          <a:noFill/>
          <a:ln/>
        </p:spPr>
        <p:txBody>
          <a:bodyPr wrap="square" rtlCol="0" anchor="ctr"/>
          <a:lstStyle/>
          <a:p>
            <a:pPr marL="0" indent="0">
              <a:buNone/>
            </a:pPr>
            <a:r>
              <a:rPr lang="en-US" sz="950" dirty="0">
                <a:solidFill>
                  <a:srgbClr val="5A7A9A"/>
                </a:solidFill>
                <a:latin typeface="Calibri" pitchFamily="34" charset="0"/>
                <a:ea typeface="Calibri" pitchFamily="34" charset="-122"/>
                <a:cs typeface="Calibri" pitchFamily="34" charset="-120"/>
              </a:rPr>
              <a:t>—  Precomputed INSIGHTS tables eliminate hallucination</a:t>
            </a:r>
            <a:endParaRPr lang="en-US" sz="950" dirty="0"/>
          </a:p>
        </p:txBody>
      </p:sp>
      <p:sp>
        <p:nvSpPr>
          <p:cNvPr id="9" name="Text 6"/>
          <p:cNvSpPr/>
          <p:nvPr/>
        </p:nvSpPr>
        <p:spPr>
          <a:xfrm>
            <a:off x="6986016" y="4645152"/>
            <a:ext cx="2103120" cy="347472"/>
          </a:xfrm>
          <a:prstGeom prst="rect">
            <a:avLst/>
          </a:prstGeom>
          <a:noFill/>
          <a:ln/>
        </p:spPr>
        <p:txBody>
          <a:bodyPr wrap="square" rtlCol="0" anchor="ctr"/>
          <a:lstStyle/>
          <a:p>
            <a:pPr marL="0" indent="0">
              <a:buNone/>
            </a:pPr>
            <a:r>
              <a:rPr lang="en-US" sz="950" dirty="0">
                <a:solidFill>
                  <a:srgbClr val="5A7A9A"/>
                </a:solidFill>
                <a:latin typeface="Calibri" pitchFamily="34" charset="0"/>
                <a:ea typeface="Calibri" pitchFamily="34" charset="-122"/>
                <a:cs typeface="Calibri" pitchFamily="34" charset="-120"/>
              </a:rPr>
              <a:t>—  PostgreSQL-compatible via psycopg2</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080F"/>
        </a:solidFill>
        <a:effectLst/>
      </p:bgPr>
    </p:bg>
    <p:spTree>
      <p:nvGrpSpPr>
        <p:cNvPr id="1" name=""/>
        <p:cNvGrpSpPr/>
        <p:nvPr/>
      </p:nvGrpSpPr>
      <p:grpSpPr>
        <a:xfrm>
          <a:off x="0" y="0"/>
          <a:ext cx="0" cy="0"/>
          <a:chOff x="0" y="0"/>
          <a:chExt cx="0" cy="0"/>
        </a:xfrm>
      </p:grpSpPr>
      <p:sp>
        <p:nvSpPr>
          <p:cNvPr id="2" name="Text 0"/>
          <p:cNvSpPr/>
          <p:nvPr/>
        </p:nvSpPr>
        <p:spPr>
          <a:xfrm>
            <a:off x="548640" y="347472"/>
            <a:ext cx="4572000" cy="256032"/>
          </a:xfrm>
          <a:prstGeom prst="rect">
            <a:avLst/>
          </a:prstGeom>
          <a:noFill/>
          <a:ln/>
        </p:spPr>
        <p:txBody>
          <a:bodyPr wrap="square" rtlCol="0" anchor="ctr"/>
          <a:lstStyle/>
          <a:p>
            <a:pPr marL="0" indent="0">
              <a:buNone/>
            </a:pPr>
            <a:r>
              <a:rPr lang="en-US" sz="850" b="1" kern="0" spc="300" dirty="0">
                <a:solidFill>
                  <a:srgbClr val="00AAFF"/>
                </a:solidFill>
                <a:latin typeface="Calibri" pitchFamily="34" charset="0"/>
                <a:ea typeface="Calibri" pitchFamily="34" charset="-122"/>
                <a:cs typeface="Calibri" pitchFamily="34" charset="-120"/>
              </a:rPr>
              <a:t>05  /  INNOVATION</a:t>
            </a:r>
            <a:endParaRPr lang="en-US" sz="850" dirty="0"/>
          </a:p>
        </p:txBody>
      </p:sp>
      <p:sp>
        <p:nvSpPr>
          <p:cNvPr id="3" name="Text 1"/>
          <p:cNvSpPr/>
          <p:nvPr/>
        </p:nvSpPr>
        <p:spPr>
          <a:xfrm>
            <a:off x="502920" y="658368"/>
            <a:ext cx="8229600" cy="59436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Circuit Memory Engine</a:t>
            </a:r>
            <a:endParaRPr lang="en-US" sz="3600" dirty="0"/>
          </a:p>
        </p:txBody>
      </p:sp>
      <p:sp>
        <p:nvSpPr>
          <p:cNvPr id="4" name="Shape 2"/>
          <p:cNvSpPr/>
          <p:nvPr/>
        </p:nvSpPr>
        <p:spPr>
          <a:xfrm>
            <a:off x="548640" y="1325880"/>
            <a:ext cx="8046720" cy="0"/>
          </a:xfrm>
          <a:prstGeom prst="line">
            <a:avLst/>
          </a:prstGeom>
          <a:noFill/>
          <a:ln w="5080">
            <a:solidFill>
              <a:srgbClr val="5A7A9A"/>
            </a:solidFill>
            <a:prstDash val="solid"/>
          </a:ln>
        </p:spPr>
      </p:sp>
      <p:sp>
        <p:nvSpPr>
          <p:cNvPr id="5" name="Text 3"/>
          <p:cNvSpPr/>
          <p:nvPr/>
        </p:nvSpPr>
        <p:spPr>
          <a:xfrm>
            <a:off x="548640" y="1463040"/>
            <a:ext cx="3840480" cy="347472"/>
          </a:xfrm>
          <a:prstGeom prst="rect">
            <a:avLst/>
          </a:prstGeom>
          <a:noFill/>
          <a:ln/>
        </p:spPr>
        <p:txBody>
          <a:bodyPr wrap="square" rtlCol="0" anchor="ctr"/>
          <a:lstStyle/>
          <a:p>
            <a:pPr marL="0" indent="0">
              <a:buNone/>
            </a:pPr>
            <a:r>
              <a:rPr lang="en-US" sz="1300" b="1" dirty="0">
                <a:solidFill>
                  <a:srgbClr val="00AAFF"/>
                </a:solidFill>
                <a:latin typeface="Calibri" pitchFamily="34" charset="0"/>
                <a:ea typeface="Calibri" pitchFamily="34" charset="-122"/>
                <a:cs typeface="Calibri" pitchFamily="34" charset="-120"/>
              </a:rPr>
              <a:t>How it works</a:t>
            </a:r>
            <a:endParaRPr lang="en-US" sz="1300" dirty="0"/>
          </a:p>
        </p:txBody>
      </p:sp>
      <p:sp>
        <p:nvSpPr>
          <p:cNvPr id="6" name="Text 4"/>
          <p:cNvSpPr/>
          <p:nvPr/>
        </p:nvSpPr>
        <p:spPr>
          <a:xfrm>
            <a:off x="548640" y="1920240"/>
            <a:ext cx="320040" cy="384048"/>
          </a:xfrm>
          <a:prstGeom prst="rect">
            <a:avLst/>
          </a:prstGeom>
          <a:noFill/>
          <a:ln/>
        </p:spPr>
        <p:txBody>
          <a:bodyPr wrap="square" rtlCol="0" anchor="ctr"/>
          <a:lstStyle/>
          <a:p>
            <a:pPr marL="0" indent="0">
              <a:buNone/>
            </a:pPr>
            <a:r>
              <a:rPr lang="en-US" sz="1100" b="1" dirty="0">
                <a:solidFill>
                  <a:srgbClr val="00AAFF"/>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914400" y="1920240"/>
            <a:ext cx="3520440" cy="384048"/>
          </a:xfrm>
          <a:prstGeom prst="rect">
            <a:avLst/>
          </a:prstGeom>
          <a:noFill/>
          <a:ln/>
        </p:spPr>
        <p:txBody>
          <a:bodyPr wrap="square" rtlCol="0" anchor="ctr"/>
          <a:lstStyle/>
          <a:p>
            <a:pPr marL="0" indent="0">
              <a:buNone/>
            </a:pPr>
            <a:r>
              <a:rPr lang="en-US" sz="1100" dirty="0">
                <a:solidFill>
                  <a:srgbClr val="C8D8E8"/>
                </a:solidFill>
                <a:latin typeface="Calibri" pitchFamily="34" charset="0"/>
                <a:ea typeface="Calibri" pitchFamily="34" charset="-122"/>
                <a:cs typeface="Calibri" pitchFamily="34" charset="-120"/>
              </a:rPr>
              <a:t>System precomputes driver + constructor rankings for every circuit</a:t>
            </a:r>
            <a:endParaRPr lang="en-US" sz="1100" dirty="0"/>
          </a:p>
        </p:txBody>
      </p:sp>
      <p:sp>
        <p:nvSpPr>
          <p:cNvPr id="8" name="Text 6"/>
          <p:cNvSpPr/>
          <p:nvPr/>
        </p:nvSpPr>
        <p:spPr>
          <a:xfrm>
            <a:off x="548640" y="2468880"/>
            <a:ext cx="320040" cy="384048"/>
          </a:xfrm>
          <a:prstGeom prst="rect">
            <a:avLst/>
          </a:prstGeom>
          <a:noFill/>
          <a:ln/>
        </p:spPr>
        <p:txBody>
          <a:bodyPr wrap="square" rtlCol="0" anchor="ctr"/>
          <a:lstStyle/>
          <a:p>
            <a:pPr marL="0" indent="0">
              <a:buNone/>
            </a:pPr>
            <a:r>
              <a:rPr lang="en-US" sz="1100" b="1" dirty="0">
                <a:solidFill>
                  <a:srgbClr val="00AAFF"/>
                </a:solidFill>
                <a:latin typeface="Calibri" pitchFamily="34" charset="0"/>
                <a:ea typeface="Calibri" pitchFamily="34" charset="-122"/>
                <a:cs typeface="Calibri" pitchFamily="34" charset="-120"/>
              </a:rPr>
              <a:t>2.</a:t>
            </a:r>
            <a:endParaRPr lang="en-US" sz="1100" dirty="0"/>
          </a:p>
        </p:txBody>
      </p:sp>
      <p:sp>
        <p:nvSpPr>
          <p:cNvPr id="9" name="Text 7"/>
          <p:cNvSpPr/>
          <p:nvPr/>
        </p:nvSpPr>
        <p:spPr>
          <a:xfrm>
            <a:off x="914400" y="2468880"/>
            <a:ext cx="3520440" cy="384048"/>
          </a:xfrm>
          <a:prstGeom prst="rect">
            <a:avLst/>
          </a:prstGeom>
          <a:noFill/>
          <a:ln/>
        </p:spPr>
        <p:txBody>
          <a:bodyPr wrap="square" rtlCol="0" anchor="ctr"/>
          <a:lstStyle/>
          <a:p>
            <a:pPr marL="0" indent="0">
              <a:buNone/>
            </a:pPr>
            <a:r>
              <a:rPr lang="en-US" sz="1100" dirty="0">
                <a:solidFill>
                  <a:srgbClr val="C8D8E8"/>
                </a:solidFill>
                <a:latin typeface="Calibri" pitchFamily="34" charset="0"/>
                <a:ea typeface="Calibri" pitchFamily="34" charset="-122"/>
                <a:cs typeface="Calibri" pitchFamily="34" charset="-120"/>
              </a:rPr>
              <a:t>Metrics stored: wins, podiums, avg finish, total points per track</a:t>
            </a:r>
            <a:endParaRPr lang="en-US" sz="1100" dirty="0"/>
          </a:p>
        </p:txBody>
      </p:sp>
      <p:sp>
        <p:nvSpPr>
          <p:cNvPr id="10" name="Text 8"/>
          <p:cNvSpPr/>
          <p:nvPr/>
        </p:nvSpPr>
        <p:spPr>
          <a:xfrm>
            <a:off x="548640" y="3017520"/>
            <a:ext cx="320040" cy="384048"/>
          </a:xfrm>
          <a:prstGeom prst="rect">
            <a:avLst/>
          </a:prstGeom>
          <a:noFill/>
          <a:ln/>
        </p:spPr>
        <p:txBody>
          <a:bodyPr wrap="square" rtlCol="0" anchor="ctr"/>
          <a:lstStyle/>
          <a:p>
            <a:pPr marL="0" indent="0">
              <a:buNone/>
            </a:pPr>
            <a:r>
              <a:rPr lang="en-US" sz="1100" b="1" dirty="0">
                <a:solidFill>
                  <a:srgbClr val="00AAFF"/>
                </a:solidFill>
                <a:latin typeface="Calibri" pitchFamily="34" charset="0"/>
                <a:ea typeface="Calibri" pitchFamily="34" charset="-122"/>
                <a:cs typeface="Calibri" pitchFamily="34" charset="-120"/>
              </a:rPr>
              <a:t>3.</a:t>
            </a:r>
            <a:endParaRPr lang="en-US" sz="1100" dirty="0"/>
          </a:p>
        </p:txBody>
      </p:sp>
      <p:sp>
        <p:nvSpPr>
          <p:cNvPr id="11" name="Text 9"/>
          <p:cNvSpPr/>
          <p:nvPr/>
        </p:nvSpPr>
        <p:spPr>
          <a:xfrm>
            <a:off x="914400" y="3017520"/>
            <a:ext cx="3520440" cy="384048"/>
          </a:xfrm>
          <a:prstGeom prst="rect">
            <a:avLst/>
          </a:prstGeom>
          <a:noFill/>
          <a:ln/>
        </p:spPr>
        <p:txBody>
          <a:bodyPr wrap="square" rtlCol="0" anchor="ctr"/>
          <a:lstStyle/>
          <a:p>
            <a:pPr marL="0" indent="0">
              <a:buNone/>
            </a:pPr>
            <a:r>
              <a:rPr lang="en-US" sz="1100" dirty="0">
                <a:solidFill>
                  <a:srgbClr val="C8D8E8"/>
                </a:solidFill>
                <a:latin typeface="Calibri" pitchFamily="34" charset="0"/>
                <a:ea typeface="Calibri" pitchFamily="34" charset="-122"/>
                <a:cs typeface="Calibri" pitchFamily="34" charset="-120"/>
              </a:rPr>
              <a:t>Serialized as JSON performance profiles in circuit_insights table</a:t>
            </a:r>
            <a:endParaRPr lang="en-US" sz="1100" dirty="0"/>
          </a:p>
        </p:txBody>
      </p:sp>
      <p:sp>
        <p:nvSpPr>
          <p:cNvPr id="12" name="Text 10"/>
          <p:cNvSpPr/>
          <p:nvPr/>
        </p:nvSpPr>
        <p:spPr>
          <a:xfrm>
            <a:off x="548640" y="3566160"/>
            <a:ext cx="320040" cy="384048"/>
          </a:xfrm>
          <a:prstGeom prst="rect">
            <a:avLst/>
          </a:prstGeom>
          <a:noFill/>
          <a:ln/>
        </p:spPr>
        <p:txBody>
          <a:bodyPr wrap="square" rtlCol="0" anchor="ctr"/>
          <a:lstStyle/>
          <a:p>
            <a:pPr marL="0" indent="0">
              <a:buNone/>
            </a:pPr>
            <a:r>
              <a:rPr lang="en-US" sz="1100" b="1" dirty="0">
                <a:solidFill>
                  <a:srgbClr val="00AAFF"/>
                </a:solidFill>
                <a:latin typeface="Calibri" pitchFamily="34" charset="0"/>
                <a:ea typeface="Calibri" pitchFamily="34" charset="-122"/>
                <a:cs typeface="Calibri" pitchFamily="34" charset="-120"/>
              </a:rPr>
              <a:t>4.</a:t>
            </a:r>
            <a:endParaRPr lang="en-US" sz="1100" dirty="0"/>
          </a:p>
        </p:txBody>
      </p:sp>
      <p:sp>
        <p:nvSpPr>
          <p:cNvPr id="13" name="Text 11"/>
          <p:cNvSpPr/>
          <p:nvPr/>
        </p:nvSpPr>
        <p:spPr>
          <a:xfrm>
            <a:off x="914400" y="3566160"/>
            <a:ext cx="3520440" cy="384048"/>
          </a:xfrm>
          <a:prstGeom prst="rect">
            <a:avLst/>
          </a:prstGeom>
          <a:noFill/>
          <a:ln/>
        </p:spPr>
        <p:txBody>
          <a:bodyPr wrap="square" rtlCol="0" anchor="ctr"/>
          <a:lstStyle/>
          <a:p>
            <a:pPr marL="0" indent="0">
              <a:buNone/>
            </a:pPr>
            <a:r>
              <a:rPr lang="en-US" sz="1100" dirty="0">
                <a:solidFill>
                  <a:srgbClr val="C8D8E8"/>
                </a:solidFill>
                <a:latin typeface="Calibri" pitchFamily="34" charset="0"/>
                <a:ea typeface="Calibri" pitchFamily="34" charset="-122"/>
                <a:cs typeface="Calibri" pitchFamily="34" charset="-120"/>
              </a:rPr>
              <a:t>On query: instant retrieval from DB — LLM never computes rankings</a:t>
            </a:r>
            <a:endParaRPr lang="en-US" sz="1100" dirty="0"/>
          </a:p>
        </p:txBody>
      </p:sp>
      <p:sp>
        <p:nvSpPr>
          <p:cNvPr id="14" name="Text 12"/>
          <p:cNvSpPr/>
          <p:nvPr/>
        </p:nvSpPr>
        <p:spPr>
          <a:xfrm>
            <a:off x="548640" y="4114800"/>
            <a:ext cx="320040" cy="384048"/>
          </a:xfrm>
          <a:prstGeom prst="rect">
            <a:avLst/>
          </a:prstGeom>
          <a:noFill/>
          <a:ln/>
        </p:spPr>
        <p:txBody>
          <a:bodyPr wrap="square" rtlCol="0" anchor="ctr"/>
          <a:lstStyle/>
          <a:p>
            <a:pPr marL="0" indent="0">
              <a:buNone/>
            </a:pPr>
            <a:r>
              <a:rPr lang="en-US" sz="1100" b="1" dirty="0">
                <a:solidFill>
                  <a:srgbClr val="00AAFF"/>
                </a:solidFill>
                <a:latin typeface="Calibri" pitchFamily="34" charset="0"/>
                <a:ea typeface="Calibri" pitchFamily="34" charset="-122"/>
                <a:cs typeface="Calibri" pitchFamily="34" charset="-120"/>
              </a:rPr>
              <a:t>5.</a:t>
            </a:r>
            <a:endParaRPr lang="en-US" sz="1100" dirty="0"/>
          </a:p>
        </p:txBody>
      </p:sp>
      <p:sp>
        <p:nvSpPr>
          <p:cNvPr id="15" name="Text 13"/>
          <p:cNvSpPr/>
          <p:nvPr/>
        </p:nvSpPr>
        <p:spPr>
          <a:xfrm>
            <a:off x="914400" y="4114800"/>
            <a:ext cx="3520440" cy="384048"/>
          </a:xfrm>
          <a:prstGeom prst="rect">
            <a:avLst/>
          </a:prstGeom>
          <a:noFill/>
          <a:ln/>
        </p:spPr>
        <p:txBody>
          <a:bodyPr wrap="square" rtlCol="0" anchor="ctr"/>
          <a:lstStyle/>
          <a:p>
            <a:pPr marL="0" indent="0">
              <a:buNone/>
            </a:pPr>
            <a:r>
              <a:rPr lang="en-US" sz="1100" dirty="0">
                <a:solidFill>
                  <a:srgbClr val="C8D8E8"/>
                </a:solidFill>
                <a:latin typeface="Calibri" pitchFamily="34" charset="0"/>
                <a:ea typeface="Calibri" pitchFamily="34" charset="-122"/>
                <a:cs typeface="Calibri" pitchFamily="34" charset="-120"/>
              </a:rPr>
              <a:t>Result: near-zero hallucination risk, sub-200ms response time</a:t>
            </a:r>
            <a:endParaRPr lang="en-US" sz="1100" dirty="0"/>
          </a:p>
        </p:txBody>
      </p:sp>
      <p:sp>
        <p:nvSpPr>
          <p:cNvPr id="16" name="Shape 14"/>
          <p:cNvSpPr/>
          <p:nvPr/>
        </p:nvSpPr>
        <p:spPr>
          <a:xfrm>
            <a:off x="4754880" y="1371600"/>
            <a:ext cx="0" cy="3566160"/>
          </a:xfrm>
          <a:prstGeom prst="line">
            <a:avLst/>
          </a:prstGeom>
          <a:noFill/>
          <a:ln w="6350">
            <a:solidFill>
              <a:srgbClr val="5A7A9A"/>
            </a:solidFill>
            <a:prstDash val="solid"/>
          </a:ln>
        </p:spPr>
      </p:sp>
      <p:sp>
        <p:nvSpPr>
          <p:cNvPr id="17" name="Text 15"/>
          <p:cNvSpPr/>
          <p:nvPr/>
        </p:nvSpPr>
        <p:spPr>
          <a:xfrm>
            <a:off x="4983480" y="1463040"/>
            <a:ext cx="3794760" cy="384048"/>
          </a:xfrm>
          <a:prstGeom prst="rect">
            <a:avLst/>
          </a:prstGeom>
          <a:noFill/>
          <a:ln/>
        </p:spPr>
        <p:txBody>
          <a:bodyPr wrap="square" rtlCol="0" anchor="ctr"/>
          <a:lstStyle/>
          <a:p>
            <a:pPr marL="0" indent="0">
              <a:buNone/>
            </a:pPr>
            <a:r>
              <a:rPr lang="en-US" sz="1100" i="1" dirty="0">
                <a:solidFill>
                  <a:srgbClr val="5A7A9A"/>
                </a:solidFill>
                <a:latin typeface="Calibri" pitchFamily="34" charset="0"/>
                <a:ea typeface="Calibri" pitchFamily="34" charset="-122"/>
                <a:cs typeface="Calibri" pitchFamily="34" charset="-120"/>
              </a:rPr>
              <a:t>Query: "Who performs best at Silverstone?"</a:t>
            </a:r>
            <a:endParaRPr lang="en-US" sz="1100" dirty="0"/>
          </a:p>
        </p:txBody>
      </p:sp>
      <p:sp>
        <p:nvSpPr>
          <p:cNvPr id="18" name="Text 16"/>
          <p:cNvSpPr/>
          <p:nvPr/>
        </p:nvSpPr>
        <p:spPr>
          <a:xfrm>
            <a:off x="4983480" y="1993392"/>
            <a:ext cx="3749040" cy="256032"/>
          </a:xfrm>
          <a:prstGeom prst="rect">
            <a:avLst/>
          </a:prstGeom>
          <a:noFill/>
          <a:ln/>
        </p:spPr>
        <p:txBody>
          <a:bodyPr wrap="square" rtlCol="0" anchor="ctr"/>
          <a:lstStyle/>
          <a:p>
            <a:pPr marL="0" indent="0">
              <a:buNone/>
            </a:pPr>
            <a:r>
              <a:rPr lang="en-US" sz="800" kern="0" spc="200" dirty="0">
                <a:solidFill>
                  <a:srgbClr val="5A7A9A"/>
                </a:solidFill>
                <a:latin typeface="Calibri" pitchFamily="34" charset="0"/>
                <a:ea typeface="Calibri" pitchFamily="34" charset="-122"/>
                <a:cs typeface="Calibri" pitchFamily="34" charset="-120"/>
              </a:rPr>
              <a:t>#1 DRIVER</a:t>
            </a:r>
            <a:endParaRPr lang="en-US" sz="800" dirty="0"/>
          </a:p>
        </p:txBody>
      </p:sp>
      <p:sp>
        <p:nvSpPr>
          <p:cNvPr id="19" name="Text 17"/>
          <p:cNvSpPr/>
          <p:nvPr/>
        </p:nvSpPr>
        <p:spPr>
          <a:xfrm>
            <a:off x="4983480" y="2231136"/>
            <a:ext cx="3749040" cy="47548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Lewis Hamilton</a:t>
            </a:r>
            <a:endParaRPr lang="en-US" sz="2200" dirty="0"/>
          </a:p>
        </p:txBody>
      </p:sp>
      <p:sp>
        <p:nvSpPr>
          <p:cNvPr id="20" name="Text 18"/>
          <p:cNvSpPr/>
          <p:nvPr/>
        </p:nvSpPr>
        <p:spPr>
          <a:xfrm>
            <a:off x="4983480" y="2679192"/>
            <a:ext cx="3749040" cy="256032"/>
          </a:xfrm>
          <a:prstGeom prst="rect">
            <a:avLst/>
          </a:prstGeom>
          <a:noFill/>
          <a:ln/>
        </p:spPr>
        <p:txBody>
          <a:bodyPr wrap="square" rtlCol="0" anchor="ctr"/>
          <a:lstStyle/>
          <a:p>
            <a:pPr marL="0" indent="0">
              <a:buNone/>
            </a:pPr>
            <a:r>
              <a:rPr lang="en-US" sz="950" dirty="0">
                <a:solidFill>
                  <a:srgbClr val="00AAFF"/>
                </a:solidFill>
                <a:latin typeface="Calibri" pitchFamily="34" charset="0"/>
                <a:ea typeface="Calibri" pitchFamily="34" charset="-122"/>
                <a:cs typeface="Calibri" pitchFamily="34" charset="-120"/>
              </a:rPr>
              <a:t>8 wins  ·  15 podiums  ·  P2.3 avg</a:t>
            </a:r>
            <a:endParaRPr lang="en-US" sz="950" dirty="0"/>
          </a:p>
        </p:txBody>
      </p:sp>
      <p:sp>
        <p:nvSpPr>
          <p:cNvPr id="21" name="Shape 19"/>
          <p:cNvSpPr/>
          <p:nvPr/>
        </p:nvSpPr>
        <p:spPr>
          <a:xfrm>
            <a:off x="4983480" y="2953512"/>
            <a:ext cx="3749040" cy="0"/>
          </a:xfrm>
          <a:prstGeom prst="line">
            <a:avLst/>
          </a:prstGeom>
          <a:noFill/>
          <a:ln w="3810">
            <a:solidFill>
              <a:srgbClr val="5A7A9A"/>
            </a:solidFill>
            <a:prstDash val="dash"/>
          </a:ln>
        </p:spPr>
      </p:sp>
      <p:sp>
        <p:nvSpPr>
          <p:cNvPr id="22" name="Text 20"/>
          <p:cNvSpPr/>
          <p:nvPr/>
        </p:nvSpPr>
        <p:spPr>
          <a:xfrm>
            <a:off x="4983480" y="2999232"/>
            <a:ext cx="3749040" cy="256032"/>
          </a:xfrm>
          <a:prstGeom prst="rect">
            <a:avLst/>
          </a:prstGeom>
          <a:noFill/>
          <a:ln/>
        </p:spPr>
        <p:txBody>
          <a:bodyPr wrap="square" rtlCol="0" anchor="ctr"/>
          <a:lstStyle/>
          <a:p>
            <a:pPr marL="0" indent="0">
              <a:buNone/>
            </a:pPr>
            <a:r>
              <a:rPr lang="en-US" sz="800" kern="0" spc="200" dirty="0">
                <a:solidFill>
                  <a:srgbClr val="5A7A9A"/>
                </a:solidFill>
                <a:latin typeface="Calibri" pitchFamily="34" charset="0"/>
                <a:ea typeface="Calibri" pitchFamily="34" charset="-122"/>
                <a:cs typeface="Calibri" pitchFamily="34" charset="-120"/>
              </a:rPr>
              <a:t>#1 CONSTRUCTOR</a:t>
            </a:r>
            <a:endParaRPr lang="en-US" sz="800" dirty="0"/>
          </a:p>
        </p:txBody>
      </p:sp>
      <p:sp>
        <p:nvSpPr>
          <p:cNvPr id="23" name="Text 21"/>
          <p:cNvSpPr/>
          <p:nvPr/>
        </p:nvSpPr>
        <p:spPr>
          <a:xfrm>
            <a:off x="4983480" y="3236976"/>
            <a:ext cx="3749040" cy="47548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Mercedes</a:t>
            </a:r>
            <a:endParaRPr lang="en-US" sz="2200" dirty="0"/>
          </a:p>
        </p:txBody>
      </p:sp>
      <p:sp>
        <p:nvSpPr>
          <p:cNvPr id="24" name="Text 22"/>
          <p:cNvSpPr/>
          <p:nvPr/>
        </p:nvSpPr>
        <p:spPr>
          <a:xfrm>
            <a:off x="4983480" y="3685032"/>
            <a:ext cx="3749040" cy="256032"/>
          </a:xfrm>
          <a:prstGeom prst="rect">
            <a:avLst/>
          </a:prstGeom>
          <a:noFill/>
          <a:ln/>
        </p:spPr>
        <p:txBody>
          <a:bodyPr wrap="square" rtlCol="0" anchor="ctr"/>
          <a:lstStyle/>
          <a:p>
            <a:pPr marL="0" indent="0">
              <a:buNone/>
            </a:pPr>
            <a:r>
              <a:rPr lang="en-US" sz="950" dirty="0">
                <a:solidFill>
                  <a:srgbClr val="00AAFF"/>
                </a:solidFill>
                <a:latin typeface="Calibri" pitchFamily="34" charset="0"/>
                <a:ea typeface="Calibri" pitchFamily="34" charset="-122"/>
                <a:cs typeface="Calibri" pitchFamily="34" charset="-120"/>
              </a:rPr>
              <a:t>12 wins  ·  22 podiums</a:t>
            </a:r>
            <a:endParaRPr lang="en-US" sz="950" dirty="0"/>
          </a:p>
        </p:txBody>
      </p:sp>
      <p:sp>
        <p:nvSpPr>
          <p:cNvPr id="25" name="Shape 23"/>
          <p:cNvSpPr/>
          <p:nvPr/>
        </p:nvSpPr>
        <p:spPr>
          <a:xfrm>
            <a:off x="4983480" y="3959352"/>
            <a:ext cx="3749040" cy="0"/>
          </a:xfrm>
          <a:prstGeom prst="line">
            <a:avLst/>
          </a:prstGeom>
          <a:noFill/>
          <a:ln w="3810">
            <a:solidFill>
              <a:srgbClr val="5A7A9A"/>
            </a:solidFill>
            <a:prstDash val="dash"/>
          </a:ln>
        </p:spPr>
      </p:sp>
      <p:sp>
        <p:nvSpPr>
          <p:cNvPr id="26" name="Text 24"/>
          <p:cNvSpPr/>
          <p:nvPr/>
        </p:nvSpPr>
        <p:spPr>
          <a:xfrm>
            <a:off x="4983480" y="4005072"/>
            <a:ext cx="3749040" cy="256032"/>
          </a:xfrm>
          <a:prstGeom prst="rect">
            <a:avLst/>
          </a:prstGeom>
          <a:noFill/>
          <a:ln/>
        </p:spPr>
        <p:txBody>
          <a:bodyPr wrap="square" rtlCol="0" anchor="ctr"/>
          <a:lstStyle/>
          <a:p>
            <a:pPr marL="0" indent="0">
              <a:buNone/>
            </a:pPr>
            <a:r>
              <a:rPr lang="en-US" sz="800" kern="0" spc="200" dirty="0">
                <a:solidFill>
                  <a:srgbClr val="5A7A9A"/>
                </a:solidFill>
                <a:latin typeface="Calibri" pitchFamily="34" charset="0"/>
                <a:ea typeface="Calibri" pitchFamily="34" charset="-122"/>
                <a:cs typeface="Calibri" pitchFamily="34" charset="-120"/>
              </a:rPr>
              <a:t>RESPONSE TIME</a:t>
            </a:r>
            <a:endParaRPr lang="en-US" sz="800" dirty="0"/>
          </a:p>
        </p:txBody>
      </p:sp>
      <p:sp>
        <p:nvSpPr>
          <p:cNvPr id="27" name="Text 25"/>
          <p:cNvSpPr/>
          <p:nvPr/>
        </p:nvSpPr>
        <p:spPr>
          <a:xfrm>
            <a:off x="4983480" y="4242816"/>
            <a:ext cx="3749040" cy="47548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&lt; 200 ms</a:t>
            </a:r>
            <a:endParaRPr lang="en-US" sz="2200" dirty="0"/>
          </a:p>
        </p:txBody>
      </p:sp>
      <p:sp>
        <p:nvSpPr>
          <p:cNvPr id="28" name="Text 26"/>
          <p:cNvSpPr/>
          <p:nvPr/>
        </p:nvSpPr>
        <p:spPr>
          <a:xfrm>
            <a:off x="4983480" y="4690872"/>
            <a:ext cx="3749040" cy="256032"/>
          </a:xfrm>
          <a:prstGeom prst="rect">
            <a:avLst/>
          </a:prstGeom>
          <a:noFill/>
          <a:ln/>
        </p:spPr>
        <p:txBody>
          <a:bodyPr wrap="square" rtlCol="0" anchor="ctr"/>
          <a:lstStyle/>
          <a:p>
            <a:pPr marL="0" indent="0">
              <a:buNone/>
            </a:pPr>
            <a:r>
              <a:rPr lang="en-US" sz="950" dirty="0">
                <a:solidFill>
                  <a:srgbClr val="00AAFF"/>
                </a:solidFill>
                <a:latin typeface="Calibri" pitchFamily="34" charset="0"/>
                <a:ea typeface="Calibri" pitchFamily="34" charset="-122"/>
                <a:cs typeface="Calibri" pitchFamily="34" charset="-120"/>
              </a:rPr>
              <a:t>Pre-computed retrieval</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5080F"/>
        </a:solidFill>
        <a:effectLst/>
      </p:bgPr>
    </p:bg>
    <p:spTree>
      <p:nvGrpSpPr>
        <p:cNvPr id="1" name=""/>
        <p:cNvGrpSpPr/>
        <p:nvPr/>
      </p:nvGrpSpPr>
      <p:grpSpPr>
        <a:xfrm>
          <a:off x="0" y="0"/>
          <a:ext cx="0" cy="0"/>
          <a:chOff x="0" y="0"/>
          <a:chExt cx="0" cy="0"/>
        </a:xfrm>
      </p:grpSpPr>
      <p:sp>
        <p:nvSpPr>
          <p:cNvPr id="2" name="Text 0"/>
          <p:cNvSpPr/>
          <p:nvPr/>
        </p:nvSpPr>
        <p:spPr>
          <a:xfrm>
            <a:off x="548640" y="347472"/>
            <a:ext cx="5486400" cy="256032"/>
          </a:xfrm>
          <a:prstGeom prst="rect">
            <a:avLst/>
          </a:prstGeom>
          <a:noFill/>
          <a:ln/>
        </p:spPr>
        <p:txBody>
          <a:bodyPr wrap="square" rtlCol="0" anchor="ctr"/>
          <a:lstStyle/>
          <a:p>
            <a:pPr marL="0" indent="0">
              <a:buNone/>
            </a:pPr>
            <a:r>
              <a:rPr lang="en-US" sz="850" b="1" kern="0" spc="300" dirty="0">
                <a:solidFill>
                  <a:srgbClr val="00AAFF"/>
                </a:solidFill>
                <a:latin typeface="Calibri" pitchFamily="34" charset="0"/>
                <a:ea typeface="Calibri" pitchFamily="34" charset="-122"/>
                <a:cs typeface="Calibri" pitchFamily="34" charset="-120"/>
              </a:rPr>
              <a:t>06  /  PREDICTION ENGINE</a:t>
            </a:r>
            <a:endParaRPr lang="en-US" sz="850" dirty="0"/>
          </a:p>
        </p:txBody>
      </p:sp>
      <p:sp>
        <p:nvSpPr>
          <p:cNvPr id="3" name="Text 1"/>
          <p:cNvSpPr/>
          <p:nvPr/>
        </p:nvSpPr>
        <p:spPr>
          <a:xfrm>
            <a:off x="502920" y="658368"/>
            <a:ext cx="8229600" cy="59436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ML-Powered Race Prediction</a:t>
            </a:r>
            <a:endParaRPr lang="en-US" sz="3400" dirty="0"/>
          </a:p>
        </p:txBody>
      </p:sp>
      <p:graphicFrame>
        <p:nvGraphicFramePr>
          <p:cNvPr id="4" name="Chart 0"/>
          <p:cNvGraphicFramePr/>
          <p:nvPr/>
        </p:nvGraphicFramePr>
        <p:xfrm>
          <a:off x="457200" y="1417320"/>
          <a:ext cx="502920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806440" y="1463040"/>
            <a:ext cx="3108960" cy="274320"/>
          </a:xfrm>
          <a:prstGeom prst="rect">
            <a:avLst/>
          </a:prstGeom>
          <a:noFill/>
          <a:ln/>
        </p:spPr>
        <p:txBody>
          <a:bodyPr wrap="square" rtlCol="0" anchor="ctr"/>
          <a:lstStyle/>
          <a:p>
            <a:pPr marL="0" indent="0">
              <a:buNone/>
            </a:pPr>
            <a:r>
              <a:rPr lang="en-US" sz="800" kern="0" spc="200" dirty="0">
                <a:solidFill>
                  <a:srgbClr val="5A7A9A"/>
                </a:solidFill>
                <a:latin typeface="Calibri" pitchFamily="34" charset="0"/>
                <a:ea typeface="Calibri" pitchFamily="34" charset="-122"/>
                <a:cs typeface="Calibri" pitchFamily="34" charset="-120"/>
              </a:rPr>
              <a:t>PREDICTED WINNER</a:t>
            </a:r>
            <a:endParaRPr lang="en-US" sz="800" dirty="0"/>
          </a:p>
        </p:txBody>
      </p:sp>
      <p:sp>
        <p:nvSpPr>
          <p:cNvPr id="6" name="Text 3"/>
          <p:cNvSpPr/>
          <p:nvPr/>
        </p:nvSpPr>
        <p:spPr>
          <a:xfrm>
            <a:off x="5806440" y="1719072"/>
            <a:ext cx="3108960" cy="594360"/>
          </a:xfrm>
          <a:prstGeom prst="rect">
            <a:avLst/>
          </a:prstGeom>
          <a:noFill/>
          <a:ln/>
        </p:spPr>
        <p:txBody>
          <a:bodyPr wrap="square" rtlCol="0" anchor="ctr"/>
          <a:lstStyle/>
          <a:p>
            <a:pPr marL="0" indent="0">
              <a:buNone/>
            </a:pPr>
            <a:r>
              <a:rPr lang="en-US" sz="2200" b="1" dirty="0">
                <a:solidFill>
                  <a:srgbClr val="00AAFF"/>
                </a:solidFill>
                <a:latin typeface="Calibri" pitchFamily="34" charset="0"/>
                <a:ea typeface="Calibri" pitchFamily="34" charset="-122"/>
                <a:cs typeface="Calibri" pitchFamily="34" charset="-120"/>
              </a:rPr>
              <a:t>Max Verstappen</a:t>
            </a:r>
            <a:endParaRPr lang="en-US" sz="2200" dirty="0"/>
          </a:p>
        </p:txBody>
      </p:sp>
      <p:sp>
        <p:nvSpPr>
          <p:cNvPr id="7" name="Shape 4"/>
          <p:cNvSpPr/>
          <p:nvPr/>
        </p:nvSpPr>
        <p:spPr>
          <a:xfrm>
            <a:off x="5806440" y="2395728"/>
            <a:ext cx="3063240" cy="0"/>
          </a:xfrm>
          <a:prstGeom prst="line">
            <a:avLst/>
          </a:prstGeom>
          <a:noFill/>
          <a:ln w="5080">
            <a:solidFill>
              <a:srgbClr val="5A7A9A"/>
            </a:solidFill>
            <a:prstDash val="solid"/>
          </a:ln>
        </p:spPr>
      </p:sp>
      <p:sp>
        <p:nvSpPr>
          <p:cNvPr id="8" name="Text 5"/>
          <p:cNvSpPr/>
          <p:nvPr/>
        </p:nvSpPr>
        <p:spPr>
          <a:xfrm>
            <a:off x="5806440" y="2560320"/>
            <a:ext cx="3108960" cy="274320"/>
          </a:xfrm>
          <a:prstGeom prst="rect">
            <a:avLst/>
          </a:prstGeom>
          <a:noFill/>
          <a:ln/>
        </p:spPr>
        <p:txBody>
          <a:bodyPr wrap="square" rtlCol="0" anchor="ctr"/>
          <a:lstStyle/>
          <a:p>
            <a:pPr marL="0" indent="0">
              <a:buNone/>
            </a:pPr>
            <a:r>
              <a:rPr lang="en-US" sz="800" kern="0" spc="200" dirty="0">
                <a:solidFill>
                  <a:srgbClr val="5A7A9A"/>
                </a:solidFill>
                <a:latin typeface="Calibri" pitchFamily="34" charset="0"/>
                <a:ea typeface="Calibri" pitchFamily="34" charset="-122"/>
                <a:cs typeface="Calibri" pitchFamily="34" charset="-120"/>
              </a:rPr>
              <a:t>CONFIDENCE</a:t>
            </a:r>
            <a:endParaRPr lang="en-US" sz="800" dirty="0"/>
          </a:p>
        </p:txBody>
      </p:sp>
      <p:sp>
        <p:nvSpPr>
          <p:cNvPr id="9" name="Text 6"/>
          <p:cNvSpPr/>
          <p:nvPr/>
        </p:nvSpPr>
        <p:spPr>
          <a:xfrm>
            <a:off x="5806440" y="2816352"/>
            <a:ext cx="3108960" cy="5943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78.4%</a:t>
            </a:r>
            <a:endParaRPr lang="en-US" sz="2200" dirty="0"/>
          </a:p>
        </p:txBody>
      </p:sp>
      <p:sp>
        <p:nvSpPr>
          <p:cNvPr id="10" name="Shape 7"/>
          <p:cNvSpPr/>
          <p:nvPr/>
        </p:nvSpPr>
        <p:spPr>
          <a:xfrm>
            <a:off x="5806440" y="3493008"/>
            <a:ext cx="3063240" cy="0"/>
          </a:xfrm>
          <a:prstGeom prst="line">
            <a:avLst/>
          </a:prstGeom>
          <a:noFill/>
          <a:ln w="5080">
            <a:solidFill>
              <a:srgbClr val="5A7A9A"/>
            </a:solidFill>
            <a:prstDash val="solid"/>
          </a:ln>
        </p:spPr>
      </p:sp>
      <p:sp>
        <p:nvSpPr>
          <p:cNvPr id="11" name="Text 8"/>
          <p:cNvSpPr/>
          <p:nvPr/>
        </p:nvSpPr>
        <p:spPr>
          <a:xfrm>
            <a:off x="5806440" y="3657600"/>
            <a:ext cx="3108960" cy="274320"/>
          </a:xfrm>
          <a:prstGeom prst="rect">
            <a:avLst/>
          </a:prstGeom>
          <a:noFill/>
          <a:ln/>
        </p:spPr>
        <p:txBody>
          <a:bodyPr wrap="square" rtlCol="0" anchor="ctr"/>
          <a:lstStyle/>
          <a:p>
            <a:pPr marL="0" indent="0">
              <a:buNone/>
            </a:pPr>
            <a:r>
              <a:rPr lang="en-US" sz="800" kern="0" spc="200" dirty="0">
                <a:solidFill>
                  <a:srgbClr val="5A7A9A"/>
                </a:solidFill>
                <a:latin typeface="Calibri" pitchFamily="34" charset="0"/>
                <a:ea typeface="Calibri" pitchFamily="34" charset="-122"/>
                <a:cs typeface="Calibri" pitchFamily="34" charset="-120"/>
              </a:rPr>
              <a:t>PREDICTED PODIUM</a:t>
            </a:r>
            <a:endParaRPr lang="en-US" sz="800" dirty="0"/>
          </a:p>
        </p:txBody>
      </p:sp>
      <p:sp>
        <p:nvSpPr>
          <p:cNvPr id="12" name="Text 9"/>
          <p:cNvSpPr/>
          <p:nvPr/>
        </p:nvSpPr>
        <p:spPr>
          <a:xfrm>
            <a:off x="5806440" y="3913632"/>
            <a:ext cx="3108960" cy="594360"/>
          </a:xfrm>
          <a:prstGeom prst="rect">
            <a:avLst/>
          </a:prstGeom>
          <a:noFill/>
          <a:ln/>
        </p:spPr>
        <p:txBody>
          <a:bodyPr wrap="square" rtlCol="0" anchor="ctr"/>
          <a:lstStyle/>
          <a:p>
            <a:pPr marL="0" indent="0">
              <a:buNone/>
            </a:pPr>
            <a:r>
              <a:rPr lang="en-US" sz="2200" b="1" dirty="0">
                <a:solidFill>
                  <a:srgbClr val="C8D8E8"/>
                </a:solidFill>
                <a:latin typeface="Calibri" pitchFamily="34" charset="0"/>
                <a:ea typeface="Calibri" pitchFamily="34" charset="-122"/>
                <a:cs typeface="Calibri" pitchFamily="34" charset="-120"/>
              </a:rPr>
              <a:t>VER · HAM · LEC</a:t>
            </a:r>
            <a:endParaRPr lang="en-US" sz="2200" dirty="0"/>
          </a:p>
        </p:txBody>
      </p:sp>
      <p:sp>
        <p:nvSpPr>
          <p:cNvPr id="13" name="Shape 10"/>
          <p:cNvSpPr/>
          <p:nvPr/>
        </p:nvSpPr>
        <p:spPr>
          <a:xfrm>
            <a:off x="548640" y="4828032"/>
            <a:ext cx="8046720" cy="0"/>
          </a:xfrm>
          <a:prstGeom prst="line">
            <a:avLst/>
          </a:prstGeom>
          <a:noFill/>
          <a:ln w="5080">
            <a:solidFill>
              <a:srgbClr val="5A7A9A"/>
            </a:solidFill>
            <a:prstDash val="solid"/>
          </a:ln>
        </p:spPr>
      </p:sp>
      <p:sp>
        <p:nvSpPr>
          <p:cNvPr id="14" name="Text 11"/>
          <p:cNvSpPr/>
          <p:nvPr/>
        </p:nvSpPr>
        <p:spPr>
          <a:xfrm>
            <a:off x="548640" y="4892040"/>
            <a:ext cx="8046720" cy="274320"/>
          </a:xfrm>
          <a:prstGeom prst="rect">
            <a:avLst/>
          </a:prstGeom>
          <a:noFill/>
          <a:ln/>
        </p:spPr>
        <p:txBody>
          <a:bodyPr wrap="square" rtlCol="0" anchor="ctr"/>
          <a:lstStyle/>
          <a:p>
            <a:pPr marL="0" indent="0" algn="ctr">
              <a:buNone/>
            </a:pPr>
            <a:r>
              <a:rPr lang="en-US" sz="950" i="1" dirty="0">
                <a:solidFill>
                  <a:srgbClr val="5A7A9A"/>
                </a:solidFill>
                <a:latin typeface="Calibri" pitchFamily="34" charset="0"/>
                <a:ea typeface="Calibri" pitchFamily="34" charset="-122"/>
                <a:cs typeface="Calibri" pitchFamily="34" charset="-120"/>
              </a:rPr>
              <a:t>The LLM explains predictions. The engine generates them. These roles never overlap.</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080F"/>
        </a:solidFill>
        <a:effectLst/>
      </p:bgPr>
    </p:bg>
    <p:spTree>
      <p:nvGrpSpPr>
        <p:cNvPr id="1" name=""/>
        <p:cNvGrpSpPr/>
        <p:nvPr/>
      </p:nvGrpSpPr>
      <p:grpSpPr>
        <a:xfrm>
          <a:off x="0" y="0"/>
          <a:ext cx="0" cy="0"/>
          <a:chOff x="0" y="0"/>
          <a:chExt cx="0" cy="0"/>
        </a:xfrm>
      </p:grpSpPr>
      <p:sp>
        <p:nvSpPr>
          <p:cNvPr id="2" name="Text 0"/>
          <p:cNvSpPr/>
          <p:nvPr/>
        </p:nvSpPr>
        <p:spPr>
          <a:xfrm>
            <a:off x="548640" y="347472"/>
            <a:ext cx="4572000" cy="256032"/>
          </a:xfrm>
          <a:prstGeom prst="rect">
            <a:avLst/>
          </a:prstGeom>
          <a:noFill/>
          <a:ln/>
        </p:spPr>
        <p:txBody>
          <a:bodyPr wrap="square" rtlCol="0" anchor="ctr"/>
          <a:lstStyle/>
          <a:p>
            <a:pPr marL="0" indent="0">
              <a:buNone/>
            </a:pPr>
            <a:r>
              <a:rPr lang="en-US" sz="850" b="1" kern="0" spc="300" dirty="0">
                <a:solidFill>
                  <a:srgbClr val="00AAFF"/>
                </a:solidFill>
                <a:latin typeface="Calibri" pitchFamily="34" charset="0"/>
                <a:ea typeface="Calibri" pitchFamily="34" charset="-122"/>
                <a:cs typeface="Calibri" pitchFamily="34" charset="-120"/>
              </a:rPr>
              <a:t>07  /  TECH STACK</a:t>
            </a:r>
            <a:endParaRPr lang="en-US" sz="850" dirty="0"/>
          </a:p>
        </p:txBody>
      </p:sp>
      <p:sp>
        <p:nvSpPr>
          <p:cNvPr id="3" name="Text 1"/>
          <p:cNvSpPr/>
          <p:nvPr/>
        </p:nvSpPr>
        <p:spPr>
          <a:xfrm>
            <a:off x="502920" y="658368"/>
            <a:ext cx="8229600" cy="59436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Production-Grade Stack</a:t>
            </a:r>
            <a:endParaRPr lang="en-US" sz="3600" dirty="0"/>
          </a:p>
        </p:txBody>
      </p:sp>
      <p:sp>
        <p:nvSpPr>
          <p:cNvPr id="4" name="Shape 2"/>
          <p:cNvSpPr/>
          <p:nvPr/>
        </p:nvSpPr>
        <p:spPr>
          <a:xfrm>
            <a:off x="548640" y="1325880"/>
            <a:ext cx="8046720" cy="0"/>
          </a:xfrm>
          <a:prstGeom prst="line">
            <a:avLst/>
          </a:prstGeom>
          <a:noFill/>
          <a:ln w="5080">
            <a:solidFill>
              <a:srgbClr val="5A7A9A"/>
            </a:solidFill>
            <a:prstDash val="solid"/>
          </a:ln>
        </p:spPr>
      </p:sp>
      <p:sp>
        <p:nvSpPr>
          <p:cNvPr id="5" name="Text 3"/>
          <p:cNvSpPr/>
          <p:nvPr/>
        </p:nvSpPr>
        <p:spPr>
          <a:xfrm>
            <a:off x="548640" y="1508760"/>
            <a:ext cx="4114800" cy="292608"/>
          </a:xfrm>
          <a:prstGeom prst="rect">
            <a:avLst/>
          </a:prstGeom>
          <a:noFill/>
          <a:ln/>
        </p:spPr>
        <p:txBody>
          <a:bodyPr wrap="square" rtlCol="0" anchor="ctr"/>
          <a:lstStyle/>
          <a:p>
            <a:pPr marL="0" indent="0">
              <a:buNone/>
            </a:pPr>
            <a:r>
              <a:rPr lang="en-US" sz="900" b="1" kern="0" spc="200" dirty="0">
                <a:solidFill>
                  <a:srgbClr val="00AAFF"/>
                </a:solidFill>
                <a:latin typeface="Calibri" pitchFamily="34" charset="0"/>
                <a:ea typeface="Calibri" pitchFamily="34" charset="-122"/>
                <a:cs typeface="Calibri" pitchFamily="34" charset="-120"/>
              </a:rPr>
              <a:t>FRONTEND</a:t>
            </a:r>
            <a:endParaRPr lang="en-US" sz="900" dirty="0"/>
          </a:p>
        </p:txBody>
      </p:sp>
      <p:sp>
        <p:nvSpPr>
          <p:cNvPr id="6" name="Text 4"/>
          <p:cNvSpPr/>
          <p:nvPr/>
        </p:nvSpPr>
        <p:spPr>
          <a:xfrm>
            <a:off x="548640" y="1837944"/>
            <a:ext cx="4114800" cy="34747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React 19  ·  TypeScript  ·  Tailwind CSS v3</a:t>
            </a:r>
            <a:endParaRPr lang="en-US" sz="1200" dirty="0"/>
          </a:p>
        </p:txBody>
      </p:sp>
      <p:sp>
        <p:nvSpPr>
          <p:cNvPr id="7" name="Text 5"/>
          <p:cNvSpPr/>
          <p:nvPr/>
        </p:nvSpPr>
        <p:spPr>
          <a:xfrm>
            <a:off x="548640" y="2221992"/>
            <a:ext cx="4114800" cy="347472"/>
          </a:xfrm>
          <a:prstGeom prst="rect">
            <a:avLst/>
          </a:prstGeom>
          <a:noFill/>
          <a:ln/>
        </p:spPr>
        <p:txBody>
          <a:bodyPr wrap="square" rtlCol="0" anchor="ctr"/>
          <a:lstStyle/>
          <a:p>
            <a:pPr marL="0" indent="0">
              <a:buNone/>
            </a:pPr>
            <a:r>
              <a:rPr lang="en-US" sz="1200" dirty="0">
                <a:solidFill>
                  <a:srgbClr val="C8D8E8"/>
                </a:solidFill>
                <a:latin typeface="Calibri" pitchFamily="34" charset="0"/>
                <a:ea typeface="Calibri" pitchFamily="34" charset="-122"/>
                <a:cs typeface="Calibri" pitchFamily="34" charset="-120"/>
              </a:rPr>
              <a:t>Vite build  ·  Axios HTTP  ·  React Router v6</a:t>
            </a:r>
            <a:endParaRPr lang="en-US" sz="1200" dirty="0"/>
          </a:p>
        </p:txBody>
      </p:sp>
      <p:sp>
        <p:nvSpPr>
          <p:cNvPr id="8" name="Shape 6"/>
          <p:cNvSpPr/>
          <p:nvPr/>
        </p:nvSpPr>
        <p:spPr>
          <a:xfrm>
            <a:off x="548640" y="2697480"/>
            <a:ext cx="4023360" cy="0"/>
          </a:xfrm>
          <a:prstGeom prst="line">
            <a:avLst/>
          </a:prstGeom>
          <a:noFill/>
          <a:ln w="6350">
            <a:solidFill>
              <a:srgbClr val="1A2D40"/>
            </a:solidFill>
            <a:prstDash val="solid"/>
          </a:ln>
        </p:spPr>
      </p:sp>
      <p:sp>
        <p:nvSpPr>
          <p:cNvPr id="9" name="Text 7"/>
          <p:cNvSpPr/>
          <p:nvPr/>
        </p:nvSpPr>
        <p:spPr>
          <a:xfrm>
            <a:off x="4846320" y="1508760"/>
            <a:ext cx="4114800" cy="292608"/>
          </a:xfrm>
          <a:prstGeom prst="rect">
            <a:avLst/>
          </a:prstGeom>
          <a:noFill/>
          <a:ln/>
        </p:spPr>
        <p:txBody>
          <a:bodyPr wrap="square" rtlCol="0" anchor="ctr"/>
          <a:lstStyle/>
          <a:p>
            <a:pPr marL="0" indent="0">
              <a:buNone/>
            </a:pPr>
            <a:r>
              <a:rPr lang="en-US" sz="900" b="1" kern="0" spc="200" dirty="0">
                <a:solidFill>
                  <a:srgbClr val="00AAFF"/>
                </a:solidFill>
                <a:latin typeface="Calibri" pitchFamily="34" charset="0"/>
                <a:ea typeface="Calibri" pitchFamily="34" charset="-122"/>
                <a:cs typeface="Calibri" pitchFamily="34" charset="-120"/>
              </a:rPr>
              <a:t>BACKEND</a:t>
            </a:r>
            <a:endParaRPr lang="en-US" sz="900" dirty="0"/>
          </a:p>
        </p:txBody>
      </p:sp>
      <p:sp>
        <p:nvSpPr>
          <p:cNvPr id="10" name="Text 8"/>
          <p:cNvSpPr/>
          <p:nvPr/>
        </p:nvSpPr>
        <p:spPr>
          <a:xfrm>
            <a:off x="4846320" y="1837944"/>
            <a:ext cx="4114800" cy="34747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Python  ·  FastAPI  ·  Uvicorn ASGI</a:t>
            </a:r>
            <a:endParaRPr lang="en-US" sz="1200" dirty="0"/>
          </a:p>
        </p:txBody>
      </p:sp>
      <p:sp>
        <p:nvSpPr>
          <p:cNvPr id="11" name="Text 9"/>
          <p:cNvSpPr/>
          <p:nvPr/>
        </p:nvSpPr>
        <p:spPr>
          <a:xfrm>
            <a:off x="4846320" y="2221992"/>
            <a:ext cx="4114800" cy="347472"/>
          </a:xfrm>
          <a:prstGeom prst="rect">
            <a:avLst/>
          </a:prstGeom>
          <a:noFill/>
          <a:ln/>
        </p:spPr>
        <p:txBody>
          <a:bodyPr wrap="square" rtlCol="0" anchor="ctr"/>
          <a:lstStyle/>
          <a:p>
            <a:pPr marL="0" indent="0">
              <a:buNone/>
            </a:pPr>
            <a:r>
              <a:rPr lang="en-US" sz="1200" dirty="0">
                <a:solidFill>
                  <a:srgbClr val="C8D8E8"/>
                </a:solidFill>
                <a:latin typeface="Calibri" pitchFamily="34" charset="0"/>
                <a:ea typeface="Calibri" pitchFamily="34" charset="-122"/>
                <a:cs typeface="Calibri" pitchFamily="34" charset="-120"/>
              </a:rPr>
              <a:t>SQLAlchemy v2 ORM  ·  Pydantic v2 validation</a:t>
            </a:r>
            <a:endParaRPr lang="en-US" sz="1200" dirty="0"/>
          </a:p>
        </p:txBody>
      </p:sp>
      <p:sp>
        <p:nvSpPr>
          <p:cNvPr id="12" name="Shape 10"/>
          <p:cNvSpPr/>
          <p:nvPr/>
        </p:nvSpPr>
        <p:spPr>
          <a:xfrm>
            <a:off x="4846320" y="2697480"/>
            <a:ext cx="4023360" cy="0"/>
          </a:xfrm>
          <a:prstGeom prst="line">
            <a:avLst/>
          </a:prstGeom>
          <a:noFill/>
          <a:ln w="6350">
            <a:solidFill>
              <a:srgbClr val="1A2D40"/>
            </a:solidFill>
            <a:prstDash val="solid"/>
          </a:ln>
        </p:spPr>
      </p:sp>
      <p:sp>
        <p:nvSpPr>
          <p:cNvPr id="13" name="Text 11"/>
          <p:cNvSpPr/>
          <p:nvPr/>
        </p:nvSpPr>
        <p:spPr>
          <a:xfrm>
            <a:off x="548640" y="3017520"/>
            <a:ext cx="4114800" cy="292608"/>
          </a:xfrm>
          <a:prstGeom prst="rect">
            <a:avLst/>
          </a:prstGeom>
          <a:noFill/>
          <a:ln/>
        </p:spPr>
        <p:txBody>
          <a:bodyPr wrap="square" rtlCol="0" anchor="ctr"/>
          <a:lstStyle/>
          <a:p>
            <a:pPr marL="0" indent="0">
              <a:buNone/>
            </a:pPr>
            <a:r>
              <a:rPr lang="en-US" sz="900" b="1" kern="0" spc="200" dirty="0">
                <a:solidFill>
                  <a:srgbClr val="00AAFF"/>
                </a:solidFill>
                <a:latin typeface="Calibri" pitchFamily="34" charset="0"/>
                <a:ea typeface="Calibri" pitchFamily="34" charset="-122"/>
                <a:cs typeface="Calibri" pitchFamily="34" charset="-120"/>
              </a:rPr>
              <a:t>DATA &amp; ML</a:t>
            </a:r>
            <a:endParaRPr lang="en-US" sz="900" dirty="0"/>
          </a:p>
        </p:txBody>
      </p:sp>
      <p:sp>
        <p:nvSpPr>
          <p:cNvPr id="14" name="Text 12"/>
          <p:cNvSpPr/>
          <p:nvPr/>
        </p:nvSpPr>
        <p:spPr>
          <a:xfrm>
            <a:off x="548640" y="3346704"/>
            <a:ext cx="4114800" cy="34747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SQLite (PostgreSQL-compatible)  ·  FastF1  ·  Ergast API</a:t>
            </a:r>
            <a:endParaRPr lang="en-US" sz="1200" dirty="0"/>
          </a:p>
        </p:txBody>
      </p:sp>
      <p:sp>
        <p:nvSpPr>
          <p:cNvPr id="15" name="Text 13"/>
          <p:cNvSpPr/>
          <p:nvPr/>
        </p:nvSpPr>
        <p:spPr>
          <a:xfrm>
            <a:off x="548640" y="3730752"/>
            <a:ext cx="4114800" cy="347472"/>
          </a:xfrm>
          <a:prstGeom prst="rect">
            <a:avLst/>
          </a:prstGeom>
          <a:noFill/>
          <a:ln/>
        </p:spPr>
        <p:txBody>
          <a:bodyPr wrap="square" rtlCol="0" anchor="ctr"/>
          <a:lstStyle/>
          <a:p>
            <a:pPr marL="0" indent="0">
              <a:buNone/>
            </a:pPr>
            <a:r>
              <a:rPr lang="en-US" sz="1200" dirty="0">
                <a:solidFill>
                  <a:srgbClr val="C8D8E8"/>
                </a:solidFill>
                <a:latin typeface="Calibri" pitchFamily="34" charset="0"/>
                <a:ea typeface="Calibri" pitchFamily="34" charset="-122"/>
                <a:cs typeface="Calibri" pitchFamily="34" charset="-120"/>
              </a:rPr>
              <a:t>Pandas  ·  NumPy  ·  scikit-learn prediction engine</a:t>
            </a:r>
            <a:endParaRPr lang="en-US" sz="1200" dirty="0"/>
          </a:p>
        </p:txBody>
      </p:sp>
      <p:sp>
        <p:nvSpPr>
          <p:cNvPr id="16" name="Text 14"/>
          <p:cNvSpPr/>
          <p:nvPr/>
        </p:nvSpPr>
        <p:spPr>
          <a:xfrm>
            <a:off x="4846320" y="3017520"/>
            <a:ext cx="4114800" cy="292608"/>
          </a:xfrm>
          <a:prstGeom prst="rect">
            <a:avLst/>
          </a:prstGeom>
          <a:noFill/>
          <a:ln/>
        </p:spPr>
        <p:txBody>
          <a:bodyPr wrap="square" rtlCol="0" anchor="ctr"/>
          <a:lstStyle/>
          <a:p>
            <a:pPr marL="0" indent="0">
              <a:buNone/>
            </a:pPr>
            <a:r>
              <a:rPr lang="en-US" sz="900" b="1" kern="0" spc="200" dirty="0">
                <a:solidFill>
                  <a:srgbClr val="00AAFF"/>
                </a:solidFill>
                <a:latin typeface="Calibri" pitchFamily="34" charset="0"/>
                <a:ea typeface="Calibri" pitchFamily="34" charset="-122"/>
                <a:cs typeface="Calibri" pitchFamily="34" charset="-120"/>
              </a:rPr>
              <a:t>AI LAYER</a:t>
            </a:r>
            <a:endParaRPr lang="en-US" sz="900" dirty="0"/>
          </a:p>
        </p:txBody>
      </p:sp>
      <p:sp>
        <p:nvSpPr>
          <p:cNvPr id="17" name="Text 15"/>
          <p:cNvSpPr/>
          <p:nvPr/>
        </p:nvSpPr>
        <p:spPr>
          <a:xfrm>
            <a:off x="4846320" y="3346704"/>
            <a:ext cx="4114800" cy="34747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Groq LLM  ·  Llama 3.3-70B-Versatile</a:t>
            </a:r>
            <a:endParaRPr lang="en-US" sz="1200" dirty="0"/>
          </a:p>
        </p:txBody>
      </p:sp>
      <p:sp>
        <p:nvSpPr>
          <p:cNvPr id="18" name="Text 16"/>
          <p:cNvSpPr/>
          <p:nvPr/>
        </p:nvSpPr>
        <p:spPr>
          <a:xfrm>
            <a:off x="4846320" y="3730752"/>
            <a:ext cx="4114800" cy="347472"/>
          </a:xfrm>
          <a:prstGeom prst="rect">
            <a:avLst/>
          </a:prstGeom>
          <a:noFill/>
          <a:ln/>
        </p:spPr>
        <p:txBody>
          <a:bodyPr wrap="square" rtlCol="0" anchor="ctr"/>
          <a:lstStyle/>
          <a:p>
            <a:pPr marL="0" indent="0">
              <a:buNone/>
            </a:pPr>
            <a:r>
              <a:rPr lang="en-US" sz="1200" dirty="0">
                <a:solidFill>
                  <a:srgbClr val="C8D8E8"/>
                </a:solidFill>
                <a:latin typeface="Calibri" pitchFamily="34" charset="0"/>
                <a:ea typeface="Calibri" pitchFamily="34" charset="-122"/>
                <a:cs typeface="Calibri" pitchFamily="34" charset="-120"/>
              </a:rPr>
              <a:t>5-agent orchestration  ·  Circuit Memory Engine  ·  Context inheritance</a:t>
            </a:r>
            <a:endParaRPr lang="en-US" sz="1200" dirty="0"/>
          </a:p>
        </p:txBody>
      </p:sp>
      <p:sp>
        <p:nvSpPr>
          <p:cNvPr id="19" name="Shape 17"/>
          <p:cNvSpPr/>
          <p:nvPr/>
        </p:nvSpPr>
        <p:spPr>
          <a:xfrm>
            <a:off x="4709160" y="1371600"/>
            <a:ext cx="0" cy="3474720"/>
          </a:xfrm>
          <a:prstGeom prst="line">
            <a:avLst/>
          </a:prstGeom>
          <a:noFill/>
          <a:ln w="6350">
            <a:solidFill>
              <a:srgbClr val="1A2D40"/>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5080F"/>
        </a:solidFill>
        <a:effectLst/>
      </p:bgPr>
    </p:bg>
    <p:spTree>
      <p:nvGrpSpPr>
        <p:cNvPr id="1" name=""/>
        <p:cNvGrpSpPr/>
        <p:nvPr/>
      </p:nvGrpSpPr>
      <p:grpSpPr>
        <a:xfrm>
          <a:off x="0" y="0"/>
          <a:ext cx="0" cy="0"/>
          <a:chOff x="0" y="0"/>
          <a:chExt cx="0" cy="0"/>
        </a:xfrm>
      </p:grpSpPr>
      <p:sp>
        <p:nvSpPr>
          <p:cNvPr id="2" name="Text 0"/>
          <p:cNvSpPr/>
          <p:nvPr/>
        </p:nvSpPr>
        <p:spPr>
          <a:xfrm>
            <a:off x="548640" y="347472"/>
            <a:ext cx="4572000" cy="256032"/>
          </a:xfrm>
          <a:prstGeom prst="rect">
            <a:avLst/>
          </a:prstGeom>
          <a:noFill/>
          <a:ln/>
        </p:spPr>
        <p:txBody>
          <a:bodyPr wrap="square" rtlCol="0" anchor="ctr"/>
          <a:lstStyle/>
          <a:p>
            <a:pPr marL="0" indent="0">
              <a:buNone/>
            </a:pPr>
            <a:r>
              <a:rPr lang="en-US" sz="850" b="1" kern="0" spc="300" dirty="0">
                <a:solidFill>
                  <a:srgbClr val="00AAFF"/>
                </a:solidFill>
                <a:latin typeface="Calibri" pitchFamily="34" charset="0"/>
                <a:ea typeface="Calibri" pitchFamily="34" charset="-122"/>
                <a:cs typeface="Calibri" pitchFamily="34" charset="-120"/>
              </a:rPr>
              <a:t>08  /  LIVE DEMO</a:t>
            </a:r>
            <a:endParaRPr lang="en-US" sz="850" dirty="0"/>
          </a:p>
        </p:txBody>
      </p:sp>
      <p:sp>
        <p:nvSpPr>
          <p:cNvPr id="3" name="Text 1"/>
          <p:cNvSpPr/>
          <p:nvPr/>
        </p:nvSpPr>
        <p:spPr>
          <a:xfrm>
            <a:off x="502920" y="658368"/>
            <a:ext cx="8229600" cy="59436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6 Questions. One Conversation.</a:t>
            </a:r>
            <a:endParaRPr lang="en-US" sz="3600" dirty="0"/>
          </a:p>
        </p:txBody>
      </p:sp>
      <p:sp>
        <p:nvSpPr>
          <p:cNvPr id="4" name="Shape 2"/>
          <p:cNvSpPr/>
          <p:nvPr/>
        </p:nvSpPr>
        <p:spPr>
          <a:xfrm>
            <a:off x="548640" y="1325880"/>
            <a:ext cx="8046720" cy="0"/>
          </a:xfrm>
          <a:prstGeom prst="line">
            <a:avLst/>
          </a:prstGeom>
          <a:noFill/>
          <a:ln w="5080">
            <a:solidFill>
              <a:srgbClr val="5A7A9A"/>
            </a:solidFill>
            <a:prstDash val="solid"/>
          </a:ln>
        </p:spPr>
      </p:sp>
      <p:sp>
        <p:nvSpPr>
          <p:cNvPr id="5" name="Shape 3"/>
          <p:cNvSpPr/>
          <p:nvPr/>
        </p:nvSpPr>
        <p:spPr>
          <a:xfrm>
            <a:off x="548640" y="1481328"/>
            <a:ext cx="0" cy="868680"/>
          </a:xfrm>
          <a:prstGeom prst="line">
            <a:avLst/>
          </a:prstGeom>
          <a:noFill/>
          <a:ln w="25400">
            <a:solidFill>
              <a:srgbClr val="5A7A9A"/>
            </a:solidFill>
            <a:prstDash val="solid"/>
          </a:ln>
        </p:spPr>
      </p:sp>
      <p:sp>
        <p:nvSpPr>
          <p:cNvPr id="6" name="Text 4"/>
          <p:cNvSpPr/>
          <p:nvPr/>
        </p:nvSpPr>
        <p:spPr>
          <a:xfrm>
            <a:off x="713232" y="1481328"/>
            <a:ext cx="411480" cy="320040"/>
          </a:xfrm>
          <a:prstGeom prst="rect">
            <a:avLst/>
          </a:prstGeom>
          <a:noFill/>
          <a:ln/>
        </p:spPr>
        <p:txBody>
          <a:bodyPr wrap="square" rtlCol="0" anchor="ctr"/>
          <a:lstStyle/>
          <a:p>
            <a:pPr marL="0" indent="0">
              <a:buNone/>
            </a:pPr>
            <a:r>
              <a:rPr lang="en-US" sz="900" b="1" dirty="0">
                <a:solidFill>
                  <a:srgbClr val="00AAFF"/>
                </a:solidFill>
                <a:latin typeface="Calibri" pitchFamily="34" charset="0"/>
                <a:ea typeface="Calibri" pitchFamily="34" charset="-122"/>
                <a:cs typeface="Calibri" pitchFamily="34" charset="-120"/>
              </a:rPr>
              <a:t>Q1</a:t>
            </a:r>
            <a:endParaRPr lang="en-US" sz="900" dirty="0"/>
          </a:p>
        </p:txBody>
      </p:sp>
      <p:sp>
        <p:nvSpPr>
          <p:cNvPr id="7" name="Text 5"/>
          <p:cNvSpPr/>
          <p:nvPr/>
        </p:nvSpPr>
        <p:spPr>
          <a:xfrm>
            <a:off x="713232" y="1755648"/>
            <a:ext cx="393192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Who performs best at Silverstone?</a:t>
            </a:r>
            <a:endParaRPr lang="en-US" sz="1300" dirty="0"/>
          </a:p>
        </p:txBody>
      </p:sp>
      <p:sp>
        <p:nvSpPr>
          <p:cNvPr id="8" name="Text 6"/>
          <p:cNvSpPr/>
          <p:nvPr/>
        </p:nvSpPr>
        <p:spPr>
          <a:xfrm>
            <a:off x="713232" y="2103120"/>
            <a:ext cx="3931920" cy="237744"/>
          </a:xfrm>
          <a:prstGeom prst="rect">
            <a:avLst/>
          </a:prstGeom>
          <a:noFill/>
          <a:ln/>
        </p:spPr>
        <p:txBody>
          <a:bodyPr wrap="square" rtlCol="0" anchor="ctr"/>
          <a:lstStyle/>
          <a:p>
            <a:pPr marL="0" indent="0">
              <a:buNone/>
            </a:pPr>
            <a:r>
              <a:rPr lang="en-US" sz="900" i="1" dirty="0">
                <a:solidFill>
                  <a:srgbClr val="5A7A9A"/>
                </a:solidFill>
                <a:latin typeface="Calibri" pitchFamily="34" charset="0"/>
                <a:ea typeface="Calibri" pitchFamily="34" charset="-122"/>
                <a:cs typeface="Calibri" pitchFamily="34" charset="-120"/>
              </a:rPr>
              <a:t>Circuit Memory Retrieval</a:t>
            </a:r>
            <a:endParaRPr lang="en-US" sz="900" dirty="0"/>
          </a:p>
        </p:txBody>
      </p:sp>
      <p:sp>
        <p:nvSpPr>
          <p:cNvPr id="9" name="Shape 7"/>
          <p:cNvSpPr/>
          <p:nvPr/>
        </p:nvSpPr>
        <p:spPr>
          <a:xfrm>
            <a:off x="548640" y="2642616"/>
            <a:ext cx="0" cy="868680"/>
          </a:xfrm>
          <a:prstGeom prst="line">
            <a:avLst/>
          </a:prstGeom>
          <a:noFill/>
          <a:ln w="25400">
            <a:solidFill>
              <a:srgbClr val="5A7A9A"/>
            </a:solidFill>
            <a:prstDash val="solid"/>
          </a:ln>
        </p:spPr>
      </p:sp>
      <p:sp>
        <p:nvSpPr>
          <p:cNvPr id="10" name="Text 8"/>
          <p:cNvSpPr/>
          <p:nvPr/>
        </p:nvSpPr>
        <p:spPr>
          <a:xfrm>
            <a:off x="713232" y="2642616"/>
            <a:ext cx="411480" cy="320040"/>
          </a:xfrm>
          <a:prstGeom prst="rect">
            <a:avLst/>
          </a:prstGeom>
          <a:noFill/>
          <a:ln/>
        </p:spPr>
        <p:txBody>
          <a:bodyPr wrap="square" rtlCol="0" anchor="ctr"/>
          <a:lstStyle/>
          <a:p>
            <a:pPr marL="0" indent="0">
              <a:buNone/>
            </a:pPr>
            <a:r>
              <a:rPr lang="en-US" sz="900" b="1" dirty="0">
                <a:solidFill>
                  <a:srgbClr val="00AAFF"/>
                </a:solidFill>
                <a:latin typeface="Calibri" pitchFamily="34" charset="0"/>
                <a:ea typeface="Calibri" pitchFamily="34" charset="-122"/>
                <a:cs typeface="Calibri" pitchFamily="34" charset="-120"/>
              </a:rPr>
              <a:t>Q2</a:t>
            </a:r>
            <a:endParaRPr lang="en-US" sz="900" dirty="0"/>
          </a:p>
        </p:txBody>
      </p:sp>
      <p:sp>
        <p:nvSpPr>
          <p:cNvPr id="11" name="Text 9"/>
          <p:cNvSpPr/>
          <p:nvPr/>
        </p:nvSpPr>
        <p:spPr>
          <a:xfrm>
            <a:off x="713232" y="2916936"/>
            <a:ext cx="393192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Compare Hamilton and Verstappen there.</a:t>
            </a:r>
            <a:endParaRPr lang="en-US" sz="1300" dirty="0"/>
          </a:p>
        </p:txBody>
      </p:sp>
      <p:sp>
        <p:nvSpPr>
          <p:cNvPr id="12" name="Text 10"/>
          <p:cNvSpPr/>
          <p:nvPr/>
        </p:nvSpPr>
        <p:spPr>
          <a:xfrm>
            <a:off x="713232" y="3264408"/>
            <a:ext cx="3931920" cy="237744"/>
          </a:xfrm>
          <a:prstGeom prst="rect">
            <a:avLst/>
          </a:prstGeom>
          <a:noFill/>
          <a:ln/>
        </p:spPr>
        <p:txBody>
          <a:bodyPr wrap="square" rtlCol="0" anchor="ctr"/>
          <a:lstStyle/>
          <a:p>
            <a:pPr marL="0" indent="0">
              <a:buNone/>
            </a:pPr>
            <a:r>
              <a:rPr lang="en-US" sz="900" i="1" dirty="0">
                <a:solidFill>
                  <a:srgbClr val="5A7A9A"/>
                </a:solidFill>
                <a:latin typeface="Calibri" pitchFamily="34" charset="0"/>
                <a:ea typeface="Calibri" pitchFamily="34" charset="-122"/>
                <a:cs typeface="Calibri" pitchFamily="34" charset="-120"/>
              </a:rPr>
              <a:t>Multi-Agent + Memory</a:t>
            </a:r>
            <a:endParaRPr lang="en-US" sz="900" dirty="0"/>
          </a:p>
        </p:txBody>
      </p:sp>
      <p:sp>
        <p:nvSpPr>
          <p:cNvPr id="13" name="Shape 11"/>
          <p:cNvSpPr/>
          <p:nvPr/>
        </p:nvSpPr>
        <p:spPr>
          <a:xfrm>
            <a:off x="548640" y="3803904"/>
            <a:ext cx="0" cy="868680"/>
          </a:xfrm>
          <a:prstGeom prst="line">
            <a:avLst/>
          </a:prstGeom>
          <a:noFill/>
          <a:ln w="25400">
            <a:solidFill>
              <a:srgbClr val="00AAFF"/>
            </a:solidFill>
            <a:prstDash val="solid"/>
          </a:ln>
        </p:spPr>
      </p:sp>
      <p:sp>
        <p:nvSpPr>
          <p:cNvPr id="14" name="Text 12"/>
          <p:cNvSpPr/>
          <p:nvPr/>
        </p:nvSpPr>
        <p:spPr>
          <a:xfrm>
            <a:off x="713232" y="3803904"/>
            <a:ext cx="411480" cy="320040"/>
          </a:xfrm>
          <a:prstGeom prst="rect">
            <a:avLst/>
          </a:prstGeom>
          <a:noFill/>
          <a:ln/>
        </p:spPr>
        <p:txBody>
          <a:bodyPr wrap="square" rtlCol="0" anchor="ctr"/>
          <a:lstStyle/>
          <a:p>
            <a:pPr marL="0" indent="0">
              <a:buNone/>
            </a:pPr>
            <a:r>
              <a:rPr lang="en-US" sz="900" b="1" dirty="0">
                <a:solidFill>
                  <a:srgbClr val="00AAFF"/>
                </a:solidFill>
                <a:latin typeface="Calibri" pitchFamily="34" charset="0"/>
                <a:ea typeface="Calibri" pitchFamily="34" charset="-122"/>
                <a:cs typeface="Calibri" pitchFamily="34" charset="-120"/>
              </a:rPr>
              <a:t>Q3</a:t>
            </a:r>
            <a:endParaRPr lang="en-US" sz="900" dirty="0"/>
          </a:p>
        </p:txBody>
      </p:sp>
      <p:sp>
        <p:nvSpPr>
          <p:cNvPr id="15" name="Text 13"/>
          <p:cNvSpPr/>
          <p:nvPr/>
        </p:nvSpPr>
        <p:spPr>
          <a:xfrm>
            <a:off x="713232" y="4078224"/>
            <a:ext cx="393192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Who would win today?</a:t>
            </a:r>
            <a:endParaRPr lang="en-US" sz="1300" dirty="0"/>
          </a:p>
        </p:txBody>
      </p:sp>
      <p:sp>
        <p:nvSpPr>
          <p:cNvPr id="16" name="Text 14"/>
          <p:cNvSpPr/>
          <p:nvPr/>
        </p:nvSpPr>
        <p:spPr>
          <a:xfrm>
            <a:off x="713232" y="4425696"/>
            <a:ext cx="3931920" cy="237744"/>
          </a:xfrm>
          <a:prstGeom prst="rect">
            <a:avLst/>
          </a:prstGeom>
          <a:noFill/>
          <a:ln/>
        </p:spPr>
        <p:txBody>
          <a:bodyPr wrap="square" rtlCol="0" anchor="ctr"/>
          <a:lstStyle/>
          <a:p>
            <a:pPr marL="0" indent="0">
              <a:buNone/>
            </a:pPr>
            <a:r>
              <a:rPr lang="en-US" sz="900" i="1" dirty="0">
                <a:solidFill>
                  <a:srgbClr val="00AAFF"/>
                </a:solidFill>
                <a:latin typeface="Calibri" pitchFamily="34" charset="0"/>
                <a:ea typeface="Calibri" pitchFamily="34" charset="-122"/>
                <a:cs typeface="Calibri" pitchFamily="34" charset="-120"/>
              </a:rPr>
              <a:t>Context Inheritance ←</a:t>
            </a:r>
            <a:endParaRPr lang="en-US" sz="900" dirty="0"/>
          </a:p>
        </p:txBody>
      </p:sp>
      <p:sp>
        <p:nvSpPr>
          <p:cNvPr id="17" name="Shape 15"/>
          <p:cNvSpPr/>
          <p:nvPr/>
        </p:nvSpPr>
        <p:spPr>
          <a:xfrm>
            <a:off x="5029200" y="1481328"/>
            <a:ext cx="0" cy="868680"/>
          </a:xfrm>
          <a:prstGeom prst="line">
            <a:avLst/>
          </a:prstGeom>
          <a:noFill/>
          <a:ln w="25400">
            <a:solidFill>
              <a:srgbClr val="00AAFF"/>
            </a:solidFill>
            <a:prstDash val="solid"/>
          </a:ln>
        </p:spPr>
      </p:sp>
      <p:sp>
        <p:nvSpPr>
          <p:cNvPr id="18" name="Text 16"/>
          <p:cNvSpPr/>
          <p:nvPr/>
        </p:nvSpPr>
        <p:spPr>
          <a:xfrm>
            <a:off x="5193792" y="1481328"/>
            <a:ext cx="411480" cy="320040"/>
          </a:xfrm>
          <a:prstGeom prst="rect">
            <a:avLst/>
          </a:prstGeom>
          <a:noFill/>
          <a:ln/>
        </p:spPr>
        <p:txBody>
          <a:bodyPr wrap="square" rtlCol="0" anchor="ctr"/>
          <a:lstStyle/>
          <a:p>
            <a:pPr marL="0" indent="0">
              <a:buNone/>
            </a:pPr>
            <a:r>
              <a:rPr lang="en-US" sz="900" b="1" dirty="0">
                <a:solidFill>
                  <a:srgbClr val="00AAFF"/>
                </a:solidFill>
                <a:latin typeface="Calibri" pitchFamily="34" charset="0"/>
                <a:ea typeface="Calibri" pitchFamily="34" charset="-122"/>
                <a:cs typeface="Calibri" pitchFamily="34" charset="-120"/>
              </a:rPr>
              <a:t>Q4</a:t>
            </a:r>
            <a:endParaRPr lang="en-US" sz="900" dirty="0"/>
          </a:p>
        </p:txBody>
      </p:sp>
      <p:sp>
        <p:nvSpPr>
          <p:cNvPr id="19" name="Text 17"/>
          <p:cNvSpPr/>
          <p:nvPr/>
        </p:nvSpPr>
        <p:spPr>
          <a:xfrm>
            <a:off x="5193792" y="1755648"/>
            <a:ext cx="393192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Why?</a:t>
            </a:r>
            <a:endParaRPr lang="en-US" sz="1300" dirty="0"/>
          </a:p>
        </p:txBody>
      </p:sp>
      <p:sp>
        <p:nvSpPr>
          <p:cNvPr id="20" name="Text 18"/>
          <p:cNvSpPr/>
          <p:nvPr/>
        </p:nvSpPr>
        <p:spPr>
          <a:xfrm>
            <a:off x="5193792" y="2103120"/>
            <a:ext cx="3931920" cy="237744"/>
          </a:xfrm>
          <a:prstGeom prst="rect">
            <a:avLst/>
          </a:prstGeom>
          <a:noFill/>
          <a:ln/>
        </p:spPr>
        <p:txBody>
          <a:bodyPr wrap="square" rtlCol="0" anchor="ctr"/>
          <a:lstStyle/>
          <a:p>
            <a:pPr marL="0" indent="0">
              <a:buNone/>
            </a:pPr>
            <a:r>
              <a:rPr lang="en-US" sz="900" i="1" dirty="0">
                <a:solidFill>
                  <a:srgbClr val="00AAFF"/>
                </a:solidFill>
                <a:latin typeface="Calibri" pitchFamily="34" charset="0"/>
                <a:ea typeface="Calibri" pitchFamily="34" charset="-122"/>
                <a:cs typeface="Calibri" pitchFamily="34" charset="-120"/>
              </a:rPr>
              <a:t>Explainable AI Reasoning ←</a:t>
            </a:r>
            <a:endParaRPr lang="en-US" sz="900" dirty="0"/>
          </a:p>
        </p:txBody>
      </p:sp>
      <p:sp>
        <p:nvSpPr>
          <p:cNvPr id="21" name="Shape 19"/>
          <p:cNvSpPr/>
          <p:nvPr/>
        </p:nvSpPr>
        <p:spPr>
          <a:xfrm>
            <a:off x="5029200" y="2642616"/>
            <a:ext cx="0" cy="868680"/>
          </a:xfrm>
          <a:prstGeom prst="line">
            <a:avLst/>
          </a:prstGeom>
          <a:noFill/>
          <a:ln w="25400">
            <a:solidFill>
              <a:srgbClr val="5A7A9A"/>
            </a:solidFill>
            <a:prstDash val="solid"/>
          </a:ln>
        </p:spPr>
      </p:sp>
      <p:sp>
        <p:nvSpPr>
          <p:cNvPr id="22" name="Text 20"/>
          <p:cNvSpPr/>
          <p:nvPr/>
        </p:nvSpPr>
        <p:spPr>
          <a:xfrm>
            <a:off x="5193792" y="2642616"/>
            <a:ext cx="411480" cy="320040"/>
          </a:xfrm>
          <a:prstGeom prst="rect">
            <a:avLst/>
          </a:prstGeom>
          <a:noFill/>
          <a:ln/>
        </p:spPr>
        <p:txBody>
          <a:bodyPr wrap="square" rtlCol="0" anchor="ctr"/>
          <a:lstStyle/>
          <a:p>
            <a:pPr marL="0" indent="0">
              <a:buNone/>
            </a:pPr>
            <a:r>
              <a:rPr lang="en-US" sz="900" b="1" dirty="0">
                <a:solidFill>
                  <a:srgbClr val="00AAFF"/>
                </a:solidFill>
                <a:latin typeface="Calibri" pitchFamily="34" charset="0"/>
                <a:ea typeface="Calibri" pitchFamily="34" charset="-122"/>
                <a:cs typeface="Calibri" pitchFamily="34" charset="-120"/>
              </a:rPr>
              <a:t>Q5</a:t>
            </a:r>
            <a:endParaRPr lang="en-US" sz="900" dirty="0"/>
          </a:p>
        </p:txBody>
      </p:sp>
      <p:sp>
        <p:nvSpPr>
          <p:cNvPr id="23" name="Text 21"/>
          <p:cNvSpPr/>
          <p:nvPr/>
        </p:nvSpPr>
        <p:spPr>
          <a:xfrm>
            <a:off x="5193792" y="2916936"/>
            <a:ext cx="393192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Predict the British GP podium.</a:t>
            </a:r>
            <a:endParaRPr lang="en-US" sz="1300" dirty="0"/>
          </a:p>
        </p:txBody>
      </p:sp>
      <p:sp>
        <p:nvSpPr>
          <p:cNvPr id="24" name="Text 22"/>
          <p:cNvSpPr/>
          <p:nvPr/>
        </p:nvSpPr>
        <p:spPr>
          <a:xfrm>
            <a:off x="5193792" y="3264408"/>
            <a:ext cx="3931920" cy="237744"/>
          </a:xfrm>
          <a:prstGeom prst="rect">
            <a:avLst/>
          </a:prstGeom>
          <a:noFill/>
          <a:ln/>
        </p:spPr>
        <p:txBody>
          <a:bodyPr wrap="square" rtlCol="0" anchor="ctr"/>
          <a:lstStyle/>
          <a:p>
            <a:pPr marL="0" indent="0">
              <a:buNone/>
            </a:pPr>
            <a:r>
              <a:rPr lang="en-US" sz="900" i="1" dirty="0">
                <a:solidFill>
                  <a:srgbClr val="5A7A9A"/>
                </a:solidFill>
                <a:latin typeface="Calibri" pitchFamily="34" charset="0"/>
                <a:ea typeface="Calibri" pitchFamily="34" charset="-122"/>
                <a:cs typeface="Calibri" pitchFamily="34" charset="-120"/>
              </a:rPr>
              <a:t>ML Prediction Engine</a:t>
            </a:r>
            <a:endParaRPr lang="en-US" sz="900" dirty="0"/>
          </a:p>
        </p:txBody>
      </p:sp>
      <p:sp>
        <p:nvSpPr>
          <p:cNvPr id="25" name="Shape 23"/>
          <p:cNvSpPr/>
          <p:nvPr/>
        </p:nvSpPr>
        <p:spPr>
          <a:xfrm>
            <a:off x="5029200" y="3803904"/>
            <a:ext cx="0" cy="868680"/>
          </a:xfrm>
          <a:prstGeom prst="line">
            <a:avLst/>
          </a:prstGeom>
          <a:noFill/>
          <a:ln w="25400">
            <a:solidFill>
              <a:srgbClr val="00AAFF"/>
            </a:solidFill>
            <a:prstDash val="solid"/>
          </a:ln>
        </p:spPr>
      </p:sp>
      <p:sp>
        <p:nvSpPr>
          <p:cNvPr id="26" name="Text 24"/>
          <p:cNvSpPr/>
          <p:nvPr/>
        </p:nvSpPr>
        <p:spPr>
          <a:xfrm>
            <a:off x="5193792" y="3803904"/>
            <a:ext cx="411480" cy="320040"/>
          </a:xfrm>
          <a:prstGeom prst="rect">
            <a:avLst/>
          </a:prstGeom>
          <a:noFill/>
          <a:ln/>
        </p:spPr>
        <p:txBody>
          <a:bodyPr wrap="square" rtlCol="0" anchor="ctr"/>
          <a:lstStyle/>
          <a:p>
            <a:pPr marL="0" indent="0">
              <a:buNone/>
            </a:pPr>
            <a:r>
              <a:rPr lang="en-US" sz="900" b="1" dirty="0">
                <a:solidFill>
                  <a:srgbClr val="00AAFF"/>
                </a:solidFill>
                <a:latin typeface="Calibri" pitchFamily="34" charset="0"/>
                <a:ea typeface="Calibri" pitchFamily="34" charset="-122"/>
                <a:cs typeface="Calibri" pitchFamily="34" charset="-120"/>
              </a:rPr>
              <a:t>Q6</a:t>
            </a:r>
            <a:endParaRPr lang="en-US" sz="900" dirty="0"/>
          </a:p>
        </p:txBody>
      </p:sp>
      <p:sp>
        <p:nvSpPr>
          <p:cNvPr id="27" name="Text 25"/>
          <p:cNvSpPr/>
          <p:nvPr/>
        </p:nvSpPr>
        <p:spPr>
          <a:xfrm>
            <a:off x="5193792" y="4078224"/>
            <a:ext cx="393192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What factors drove that prediction?</a:t>
            </a:r>
            <a:endParaRPr lang="en-US" sz="1300" dirty="0"/>
          </a:p>
        </p:txBody>
      </p:sp>
      <p:sp>
        <p:nvSpPr>
          <p:cNvPr id="28" name="Text 26"/>
          <p:cNvSpPr/>
          <p:nvPr/>
        </p:nvSpPr>
        <p:spPr>
          <a:xfrm>
            <a:off x="5193792" y="4425696"/>
            <a:ext cx="3931920" cy="237744"/>
          </a:xfrm>
          <a:prstGeom prst="rect">
            <a:avLst/>
          </a:prstGeom>
          <a:noFill/>
          <a:ln/>
        </p:spPr>
        <p:txBody>
          <a:bodyPr wrap="square" rtlCol="0" anchor="ctr"/>
          <a:lstStyle/>
          <a:p>
            <a:pPr marL="0" indent="0">
              <a:buNone/>
            </a:pPr>
            <a:r>
              <a:rPr lang="en-US" sz="900" i="1" dirty="0">
                <a:solidFill>
                  <a:srgbClr val="00AAFF"/>
                </a:solidFill>
                <a:latin typeface="Calibri" pitchFamily="34" charset="0"/>
                <a:ea typeface="Calibri" pitchFamily="34" charset="-122"/>
                <a:cs typeface="Calibri" pitchFamily="34" charset="-120"/>
              </a:rPr>
              <a:t>Full Agent Transparency ←</a:t>
            </a:r>
            <a:endParaRPr lang="en-US" sz="900" dirty="0"/>
          </a:p>
        </p:txBody>
      </p:sp>
      <p:sp>
        <p:nvSpPr>
          <p:cNvPr id="29" name="Text 27"/>
          <p:cNvSpPr/>
          <p:nvPr/>
        </p:nvSpPr>
        <p:spPr>
          <a:xfrm>
            <a:off x="548640" y="4892040"/>
            <a:ext cx="8046720" cy="228600"/>
          </a:xfrm>
          <a:prstGeom prst="rect">
            <a:avLst/>
          </a:prstGeom>
          <a:noFill/>
          <a:ln/>
        </p:spPr>
        <p:txBody>
          <a:bodyPr wrap="square" rtlCol="0" anchor="ctr"/>
          <a:lstStyle/>
          <a:p>
            <a:pPr marL="0" indent="0">
              <a:buNone/>
            </a:pPr>
            <a:r>
              <a:rPr lang="en-US" sz="850" i="1" dirty="0">
                <a:solidFill>
                  <a:srgbClr val="5A7A9A"/>
                </a:solidFill>
                <a:latin typeface="Calibri" pitchFamily="34" charset="0"/>
                <a:ea typeface="Calibri" pitchFamily="34" charset="-122"/>
                <a:cs typeface="Calibri" pitchFamily="34" charset="-120"/>
              </a:rPr>
              <a:t>← arrows denote context inherited from prior question without re-stating it</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5080F"/>
        </a:solidFill>
        <a:effectLst/>
      </p:bgPr>
    </p:bg>
    <p:spTree>
      <p:nvGrpSpPr>
        <p:cNvPr id="1" name=""/>
        <p:cNvGrpSpPr/>
        <p:nvPr/>
      </p:nvGrpSpPr>
      <p:grpSpPr>
        <a:xfrm>
          <a:off x="0" y="0"/>
          <a:ext cx="0" cy="0"/>
          <a:chOff x="0" y="0"/>
          <a:chExt cx="0" cy="0"/>
        </a:xfrm>
      </p:grpSpPr>
      <p:sp>
        <p:nvSpPr>
          <p:cNvPr id="2" name="Text 0"/>
          <p:cNvSpPr/>
          <p:nvPr/>
        </p:nvSpPr>
        <p:spPr>
          <a:xfrm>
            <a:off x="548640" y="347472"/>
            <a:ext cx="5486400" cy="256032"/>
          </a:xfrm>
          <a:prstGeom prst="rect">
            <a:avLst/>
          </a:prstGeom>
          <a:noFill/>
          <a:ln/>
        </p:spPr>
        <p:txBody>
          <a:bodyPr wrap="square" rtlCol="0" anchor="ctr"/>
          <a:lstStyle/>
          <a:p>
            <a:pPr marL="0" indent="0">
              <a:buNone/>
            </a:pPr>
            <a:r>
              <a:rPr lang="en-US" sz="850" b="1" kern="0" spc="300" dirty="0">
                <a:solidFill>
                  <a:srgbClr val="00AAFF"/>
                </a:solidFill>
                <a:latin typeface="Calibri" pitchFamily="34" charset="0"/>
                <a:ea typeface="Calibri" pitchFamily="34" charset="-122"/>
                <a:cs typeface="Calibri" pitchFamily="34" charset="-120"/>
              </a:rPr>
              <a:t>09  /  CHALLENGES SOLVED</a:t>
            </a:r>
            <a:endParaRPr lang="en-US" sz="850" dirty="0"/>
          </a:p>
        </p:txBody>
      </p:sp>
      <p:sp>
        <p:nvSpPr>
          <p:cNvPr id="3" name="Text 1"/>
          <p:cNvSpPr/>
          <p:nvPr/>
        </p:nvSpPr>
        <p:spPr>
          <a:xfrm>
            <a:off x="502920" y="658368"/>
            <a:ext cx="8229600" cy="59436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Problems We Solved</a:t>
            </a:r>
            <a:endParaRPr lang="en-US" sz="3600" dirty="0"/>
          </a:p>
        </p:txBody>
      </p:sp>
      <p:sp>
        <p:nvSpPr>
          <p:cNvPr id="4" name="Shape 2"/>
          <p:cNvSpPr/>
          <p:nvPr/>
        </p:nvSpPr>
        <p:spPr>
          <a:xfrm>
            <a:off x="548640" y="1325880"/>
            <a:ext cx="8046720" cy="0"/>
          </a:xfrm>
          <a:prstGeom prst="line">
            <a:avLst/>
          </a:prstGeom>
          <a:noFill/>
          <a:ln w="5080">
            <a:solidFill>
              <a:srgbClr val="5A7A9A"/>
            </a:solidFill>
            <a:prstDash val="solid"/>
          </a:ln>
        </p:spPr>
      </p:sp>
      <p:sp>
        <p:nvSpPr>
          <p:cNvPr id="5" name="Text 3"/>
          <p:cNvSpPr/>
          <p:nvPr/>
        </p:nvSpPr>
        <p:spPr>
          <a:xfrm>
            <a:off x="548640" y="1463040"/>
            <a:ext cx="457200" cy="347472"/>
          </a:xfrm>
          <a:prstGeom prst="rect">
            <a:avLst/>
          </a:prstGeom>
          <a:noFill/>
          <a:ln/>
        </p:spPr>
        <p:txBody>
          <a:bodyPr wrap="square" rtlCol="0" anchor="ctr"/>
          <a:lstStyle/>
          <a:p>
            <a:pPr marL="0" indent="0">
              <a:buNone/>
            </a:pPr>
            <a:r>
              <a:rPr lang="en-US" sz="1100" b="1" dirty="0">
                <a:solidFill>
                  <a:srgbClr val="00AAFF"/>
                </a:solidFill>
                <a:latin typeface="Calibri" pitchFamily="34" charset="0"/>
                <a:ea typeface="Calibri" pitchFamily="34" charset="-122"/>
                <a:cs typeface="Calibri" pitchFamily="34" charset="-120"/>
              </a:rPr>
              <a:t>01</a:t>
            </a:r>
            <a:endParaRPr lang="en-US" sz="1100" dirty="0"/>
          </a:p>
        </p:txBody>
      </p:sp>
      <p:sp>
        <p:nvSpPr>
          <p:cNvPr id="6" name="Text 4"/>
          <p:cNvSpPr/>
          <p:nvPr/>
        </p:nvSpPr>
        <p:spPr>
          <a:xfrm>
            <a:off x="1051560" y="1463040"/>
            <a:ext cx="338328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LLM hallucinations on predictions</a:t>
            </a:r>
            <a:endParaRPr lang="en-US" sz="1300" dirty="0"/>
          </a:p>
        </p:txBody>
      </p:sp>
      <p:sp>
        <p:nvSpPr>
          <p:cNvPr id="7" name="Text 5"/>
          <p:cNvSpPr/>
          <p:nvPr/>
        </p:nvSpPr>
        <p:spPr>
          <a:xfrm>
            <a:off x="1051560" y="1810512"/>
            <a:ext cx="3383280" cy="402336"/>
          </a:xfrm>
          <a:prstGeom prst="rect">
            <a:avLst/>
          </a:prstGeom>
          <a:noFill/>
          <a:ln/>
        </p:spPr>
        <p:txBody>
          <a:bodyPr wrap="square" rtlCol="0" anchor="ctr"/>
          <a:lstStyle/>
          <a:p>
            <a:pPr marL="0" indent="0">
              <a:buNone/>
            </a:pPr>
            <a:r>
              <a:rPr lang="en-US" sz="1050" dirty="0">
                <a:solidFill>
                  <a:srgbClr val="C8D8E8"/>
                </a:solidFill>
                <a:latin typeface="Calibri" pitchFamily="34" charset="0"/>
                <a:ea typeface="Calibri" pitchFamily="34" charset="-122"/>
                <a:cs typeface="Calibri" pitchFamily="34" charset="-120"/>
              </a:rPr>
              <a:t>Moved all calculations to deterministic agents. The LLM never touches rankings or statistics.</a:t>
            </a:r>
            <a:endParaRPr lang="en-US" sz="1050" dirty="0"/>
          </a:p>
        </p:txBody>
      </p:sp>
      <p:sp>
        <p:nvSpPr>
          <p:cNvPr id="8" name="Text 6"/>
          <p:cNvSpPr/>
          <p:nvPr/>
        </p:nvSpPr>
        <p:spPr>
          <a:xfrm>
            <a:off x="5029200" y="1554480"/>
            <a:ext cx="3657600" cy="457200"/>
          </a:xfrm>
          <a:prstGeom prst="rect">
            <a:avLst/>
          </a:prstGeom>
          <a:noFill/>
          <a:ln/>
        </p:spPr>
        <p:txBody>
          <a:bodyPr wrap="square" rtlCol="0" anchor="ctr"/>
          <a:lstStyle/>
          <a:p>
            <a:pPr marL="0" indent="0" algn="r">
              <a:buNone/>
            </a:pPr>
            <a:r>
              <a:rPr lang="en-US" sz="1500" b="1" dirty="0">
                <a:solidFill>
                  <a:srgbClr val="5A7A9A"/>
                </a:solidFill>
                <a:latin typeface="Calibri" pitchFamily="34" charset="0"/>
                <a:ea typeface="Calibri" pitchFamily="34" charset="-122"/>
                <a:cs typeface="Calibri" pitchFamily="34" charset="-120"/>
              </a:rPr>
              <a:t>Architectural Separation</a:t>
            </a:r>
            <a:endParaRPr lang="en-US" sz="1500" dirty="0"/>
          </a:p>
        </p:txBody>
      </p:sp>
      <p:sp>
        <p:nvSpPr>
          <p:cNvPr id="9" name="Shape 7"/>
          <p:cNvSpPr/>
          <p:nvPr/>
        </p:nvSpPr>
        <p:spPr>
          <a:xfrm>
            <a:off x="548640" y="2267712"/>
            <a:ext cx="8046720" cy="0"/>
          </a:xfrm>
          <a:prstGeom prst="line">
            <a:avLst/>
          </a:prstGeom>
          <a:noFill/>
          <a:ln w="5080">
            <a:solidFill>
              <a:srgbClr val="1A2D40"/>
            </a:solidFill>
            <a:prstDash val="solid"/>
          </a:ln>
        </p:spPr>
      </p:sp>
      <p:sp>
        <p:nvSpPr>
          <p:cNvPr id="10" name="Text 8"/>
          <p:cNvSpPr/>
          <p:nvPr/>
        </p:nvSpPr>
        <p:spPr>
          <a:xfrm>
            <a:off x="548640" y="2340864"/>
            <a:ext cx="457200" cy="347472"/>
          </a:xfrm>
          <a:prstGeom prst="rect">
            <a:avLst/>
          </a:prstGeom>
          <a:noFill/>
          <a:ln/>
        </p:spPr>
        <p:txBody>
          <a:bodyPr wrap="square" rtlCol="0" anchor="ctr"/>
          <a:lstStyle/>
          <a:p>
            <a:pPr marL="0" indent="0">
              <a:buNone/>
            </a:pPr>
            <a:r>
              <a:rPr lang="en-US" sz="1100" b="1" dirty="0">
                <a:solidFill>
                  <a:srgbClr val="00AAFF"/>
                </a:solidFill>
                <a:latin typeface="Calibri" pitchFamily="34" charset="0"/>
                <a:ea typeface="Calibri" pitchFamily="34" charset="-122"/>
                <a:cs typeface="Calibri" pitchFamily="34" charset="-120"/>
              </a:rPr>
              <a:t>02</a:t>
            </a:r>
            <a:endParaRPr lang="en-US" sz="1100" dirty="0"/>
          </a:p>
        </p:txBody>
      </p:sp>
      <p:sp>
        <p:nvSpPr>
          <p:cNvPr id="11" name="Text 9"/>
          <p:cNvSpPr/>
          <p:nvPr/>
        </p:nvSpPr>
        <p:spPr>
          <a:xfrm>
            <a:off x="1051560" y="2340864"/>
            <a:ext cx="338328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Slow retrieval of historical statistics</a:t>
            </a:r>
            <a:endParaRPr lang="en-US" sz="1300" dirty="0"/>
          </a:p>
        </p:txBody>
      </p:sp>
      <p:sp>
        <p:nvSpPr>
          <p:cNvPr id="12" name="Text 10"/>
          <p:cNvSpPr/>
          <p:nvPr/>
        </p:nvSpPr>
        <p:spPr>
          <a:xfrm>
            <a:off x="1051560" y="2688336"/>
            <a:ext cx="3383280" cy="402336"/>
          </a:xfrm>
          <a:prstGeom prst="rect">
            <a:avLst/>
          </a:prstGeom>
          <a:noFill/>
          <a:ln/>
        </p:spPr>
        <p:txBody>
          <a:bodyPr wrap="square" rtlCol="0" anchor="ctr"/>
          <a:lstStyle/>
          <a:p>
            <a:pPr marL="0" indent="0">
              <a:buNone/>
            </a:pPr>
            <a:r>
              <a:rPr lang="en-US" sz="1050" dirty="0">
                <a:solidFill>
                  <a:srgbClr val="C8D8E8"/>
                </a:solidFill>
                <a:latin typeface="Calibri" pitchFamily="34" charset="0"/>
                <a:ea typeface="Calibri" pitchFamily="34" charset="-122"/>
                <a:cs typeface="Calibri" pitchFamily="34" charset="-120"/>
              </a:rPr>
              <a:t>Built the Circuit Memory Engine — precomputed JSON profiles per driver per circuit for instant lookup.</a:t>
            </a:r>
            <a:endParaRPr lang="en-US" sz="1050" dirty="0"/>
          </a:p>
        </p:txBody>
      </p:sp>
      <p:sp>
        <p:nvSpPr>
          <p:cNvPr id="13" name="Text 11"/>
          <p:cNvSpPr/>
          <p:nvPr/>
        </p:nvSpPr>
        <p:spPr>
          <a:xfrm>
            <a:off x="5029200" y="2432304"/>
            <a:ext cx="3657600" cy="457200"/>
          </a:xfrm>
          <a:prstGeom prst="rect">
            <a:avLst/>
          </a:prstGeom>
          <a:noFill/>
          <a:ln/>
        </p:spPr>
        <p:txBody>
          <a:bodyPr wrap="square" rtlCol="0" anchor="ctr"/>
          <a:lstStyle/>
          <a:p>
            <a:pPr marL="0" indent="0" algn="r">
              <a:buNone/>
            </a:pPr>
            <a:r>
              <a:rPr lang="en-US" sz="1500" b="1" dirty="0">
                <a:solidFill>
                  <a:srgbClr val="5A7A9A"/>
                </a:solidFill>
                <a:latin typeface="Calibri" pitchFamily="34" charset="0"/>
                <a:ea typeface="Calibri" pitchFamily="34" charset="-122"/>
                <a:cs typeface="Calibri" pitchFamily="34" charset="-120"/>
              </a:rPr>
              <a:t>Precomputed Intelligence</a:t>
            </a:r>
            <a:endParaRPr lang="en-US" sz="1500" dirty="0"/>
          </a:p>
        </p:txBody>
      </p:sp>
      <p:sp>
        <p:nvSpPr>
          <p:cNvPr id="14" name="Shape 12"/>
          <p:cNvSpPr/>
          <p:nvPr/>
        </p:nvSpPr>
        <p:spPr>
          <a:xfrm>
            <a:off x="548640" y="3145536"/>
            <a:ext cx="8046720" cy="0"/>
          </a:xfrm>
          <a:prstGeom prst="line">
            <a:avLst/>
          </a:prstGeom>
          <a:noFill/>
          <a:ln w="5080">
            <a:solidFill>
              <a:srgbClr val="1A2D40"/>
            </a:solidFill>
            <a:prstDash val="solid"/>
          </a:ln>
        </p:spPr>
      </p:sp>
      <p:sp>
        <p:nvSpPr>
          <p:cNvPr id="15" name="Text 13"/>
          <p:cNvSpPr/>
          <p:nvPr/>
        </p:nvSpPr>
        <p:spPr>
          <a:xfrm>
            <a:off x="548640" y="3218688"/>
            <a:ext cx="457200" cy="347472"/>
          </a:xfrm>
          <a:prstGeom prst="rect">
            <a:avLst/>
          </a:prstGeom>
          <a:noFill/>
          <a:ln/>
        </p:spPr>
        <p:txBody>
          <a:bodyPr wrap="square" rtlCol="0" anchor="ctr"/>
          <a:lstStyle/>
          <a:p>
            <a:pPr marL="0" indent="0">
              <a:buNone/>
            </a:pPr>
            <a:r>
              <a:rPr lang="en-US" sz="1100" b="1" dirty="0">
                <a:solidFill>
                  <a:srgbClr val="00AAFF"/>
                </a:solidFill>
                <a:latin typeface="Calibri" pitchFamily="34" charset="0"/>
                <a:ea typeface="Calibri" pitchFamily="34" charset="-122"/>
                <a:cs typeface="Calibri" pitchFamily="34" charset="-120"/>
              </a:rPr>
              <a:t>03</a:t>
            </a:r>
            <a:endParaRPr lang="en-US" sz="1100" dirty="0"/>
          </a:p>
        </p:txBody>
      </p:sp>
      <p:sp>
        <p:nvSpPr>
          <p:cNvPr id="16" name="Text 14"/>
          <p:cNvSpPr/>
          <p:nvPr/>
        </p:nvSpPr>
        <p:spPr>
          <a:xfrm>
            <a:off x="1051560" y="3218688"/>
            <a:ext cx="338328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Incorrect ranking logic</a:t>
            </a:r>
            <a:endParaRPr lang="en-US" sz="1300" dirty="0"/>
          </a:p>
        </p:txBody>
      </p:sp>
      <p:sp>
        <p:nvSpPr>
          <p:cNvPr id="17" name="Text 15"/>
          <p:cNvSpPr/>
          <p:nvPr/>
        </p:nvSpPr>
        <p:spPr>
          <a:xfrm>
            <a:off x="1051560" y="3566160"/>
            <a:ext cx="3383280" cy="402336"/>
          </a:xfrm>
          <a:prstGeom prst="rect">
            <a:avLst/>
          </a:prstGeom>
          <a:noFill/>
          <a:ln/>
        </p:spPr>
        <p:txBody>
          <a:bodyPr wrap="square" rtlCol="0" anchor="ctr"/>
          <a:lstStyle/>
          <a:p>
            <a:pPr marL="0" indent="0">
              <a:buNone/>
            </a:pPr>
            <a:r>
              <a:rPr lang="en-US" sz="1050" dirty="0">
                <a:solidFill>
                  <a:srgbClr val="C8D8E8"/>
                </a:solidFill>
                <a:latin typeface="Calibri" pitchFamily="34" charset="0"/>
                <a:ea typeface="Calibri" pitchFamily="34" charset="-122"/>
                <a:cs typeface="Calibri" pitchFamily="34" charset="-120"/>
              </a:rPr>
              <a:t>Created deterministic composite scoring in the Prediction Agent using scikit-learn, isolated from language model.</a:t>
            </a:r>
            <a:endParaRPr lang="en-US" sz="1050" dirty="0"/>
          </a:p>
        </p:txBody>
      </p:sp>
      <p:sp>
        <p:nvSpPr>
          <p:cNvPr id="18" name="Text 16"/>
          <p:cNvSpPr/>
          <p:nvPr/>
        </p:nvSpPr>
        <p:spPr>
          <a:xfrm>
            <a:off x="5029200" y="3310128"/>
            <a:ext cx="3657600" cy="457200"/>
          </a:xfrm>
          <a:prstGeom prst="rect">
            <a:avLst/>
          </a:prstGeom>
          <a:noFill/>
          <a:ln/>
        </p:spPr>
        <p:txBody>
          <a:bodyPr wrap="square" rtlCol="0" anchor="ctr"/>
          <a:lstStyle/>
          <a:p>
            <a:pPr marL="0" indent="0" algn="r">
              <a:buNone/>
            </a:pPr>
            <a:r>
              <a:rPr lang="en-US" sz="1500" b="1" dirty="0">
                <a:solidFill>
                  <a:srgbClr val="5A7A9A"/>
                </a:solidFill>
                <a:latin typeface="Calibri" pitchFamily="34" charset="0"/>
                <a:ea typeface="Calibri" pitchFamily="34" charset="-122"/>
                <a:cs typeface="Calibri" pitchFamily="34" charset="-120"/>
              </a:rPr>
              <a:t>Deterministic Scoring</a:t>
            </a:r>
            <a:endParaRPr lang="en-US" sz="1500" dirty="0"/>
          </a:p>
        </p:txBody>
      </p:sp>
      <p:sp>
        <p:nvSpPr>
          <p:cNvPr id="19" name="Shape 17"/>
          <p:cNvSpPr/>
          <p:nvPr/>
        </p:nvSpPr>
        <p:spPr>
          <a:xfrm>
            <a:off x="548640" y="4023360"/>
            <a:ext cx="8046720" cy="0"/>
          </a:xfrm>
          <a:prstGeom prst="line">
            <a:avLst/>
          </a:prstGeom>
          <a:noFill/>
          <a:ln w="5080">
            <a:solidFill>
              <a:srgbClr val="1A2D40"/>
            </a:solidFill>
            <a:prstDash val="solid"/>
          </a:ln>
        </p:spPr>
      </p:sp>
      <p:sp>
        <p:nvSpPr>
          <p:cNvPr id="20" name="Text 18"/>
          <p:cNvSpPr/>
          <p:nvPr/>
        </p:nvSpPr>
        <p:spPr>
          <a:xfrm>
            <a:off x="548640" y="4096512"/>
            <a:ext cx="457200" cy="347472"/>
          </a:xfrm>
          <a:prstGeom prst="rect">
            <a:avLst/>
          </a:prstGeom>
          <a:noFill/>
          <a:ln/>
        </p:spPr>
        <p:txBody>
          <a:bodyPr wrap="square" rtlCol="0" anchor="ctr"/>
          <a:lstStyle/>
          <a:p>
            <a:pPr marL="0" indent="0">
              <a:buNone/>
            </a:pPr>
            <a:r>
              <a:rPr lang="en-US" sz="1100" b="1" dirty="0">
                <a:solidFill>
                  <a:srgbClr val="00AAFF"/>
                </a:solidFill>
                <a:latin typeface="Calibri" pitchFamily="34" charset="0"/>
                <a:ea typeface="Calibri" pitchFamily="34" charset="-122"/>
                <a:cs typeface="Calibri" pitchFamily="34" charset="-120"/>
              </a:rPr>
              <a:t>04</a:t>
            </a:r>
            <a:endParaRPr lang="en-US" sz="1100" dirty="0"/>
          </a:p>
        </p:txBody>
      </p:sp>
      <p:sp>
        <p:nvSpPr>
          <p:cNvPr id="21" name="Text 19"/>
          <p:cNvSpPr/>
          <p:nvPr/>
        </p:nvSpPr>
        <p:spPr>
          <a:xfrm>
            <a:off x="1051560" y="4096512"/>
            <a:ext cx="338328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Loss of conversational context</a:t>
            </a:r>
            <a:endParaRPr lang="en-US" sz="1300" dirty="0"/>
          </a:p>
        </p:txBody>
      </p:sp>
      <p:sp>
        <p:nvSpPr>
          <p:cNvPr id="22" name="Text 20"/>
          <p:cNvSpPr/>
          <p:nvPr/>
        </p:nvSpPr>
        <p:spPr>
          <a:xfrm>
            <a:off x="1051560" y="4443984"/>
            <a:ext cx="3383280" cy="402336"/>
          </a:xfrm>
          <a:prstGeom prst="rect">
            <a:avLst/>
          </a:prstGeom>
          <a:noFill/>
          <a:ln/>
        </p:spPr>
        <p:txBody>
          <a:bodyPr wrap="square" rtlCol="0" anchor="ctr"/>
          <a:lstStyle/>
          <a:p>
            <a:pPr marL="0" indent="0">
              <a:buNone/>
            </a:pPr>
            <a:r>
              <a:rPr lang="en-US" sz="1050" dirty="0">
                <a:solidFill>
                  <a:srgbClr val="C8D8E8"/>
                </a:solidFill>
                <a:latin typeface="Calibri" pitchFamily="34" charset="0"/>
                <a:ea typeface="Calibri" pitchFamily="34" charset="-122"/>
                <a:cs typeface="Calibri" pitchFamily="34" charset="-120"/>
              </a:rPr>
              <a:t>Implemented backwards session traversal — agents inherit prior context (drivers, circuits, predictions) automatically.</a:t>
            </a:r>
            <a:endParaRPr lang="en-US" sz="1050" dirty="0"/>
          </a:p>
        </p:txBody>
      </p:sp>
      <p:sp>
        <p:nvSpPr>
          <p:cNvPr id="23" name="Text 21"/>
          <p:cNvSpPr/>
          <p:nvPr/>
        </p:nvSpPr>
        <p:spPr>
          <a:xfrm>
            <a:off x="5029200" y="4187952"/>
            <a:ext cx="3657600" cy="457200"/>
          </a:xfrm>
          <a:prstGeom prst="rect">
            <a:avLst/>
          </a:prstGeom>
          <a:noFill/>
          <a:ln/>
        </p:spPr>
        <p:txBody>
          <a:bodyPr wrap="square" rtlCol="0" anchor="ctr"/>
          <a:lstStyle/>
          <a:p>
            <a:pPr marL="0" indent="0" algn="r">
              <a:buNone/>
            </a:pPr>
            <a:r>
              <a:rPr lang="en-US" sz="1500" b="1" dirty="0">
                <a:solidFill>
                  <a:srgbClr val="5A7A9A"/>
                </a:solidFill>
                <a:latin typeface="Calibri" pitchFamily="34" charset="0"/>
                <a:ea typeface="Calibri" pitchFamily="34" charset="-122"/>
                <a:cs typeface="Calibri" pitchFamily="34" charset="-120"/>
              </a:rPr>
              <a:t>Context Inheritance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5080F"/>
        </a:solidFill>
        <a:effectLst/>
      </p:bgPr>
    </p:bg>
    <p:spTree>
      <p:nvGrpSpPr>
        <p:cNvPr id="1" name=""/>
        <p:cNvGrpSpPr/>
        <p:nvPr/>
      </p:nvGrpSpPr>
      <p:grpSpPr>
        <a:xfrm>
          <a:off x="0" y="0"/>
          <a:ext cx="0" cy="0"/>
          <a:chOff x="0" y="0"/>
          <a:chExt cx="0" cy="0"/>
        </a:xfrm>
      </p:grpSpPr>
      <p:sp>
        <p:nvSpPr>
          <p:cNvPr id="2" name="Text 0"/>
          <p:cNvSpPr/>
          <p:nvPr/>
        </p:nvSpPr>
        <p:spPr>
          <a:xfrm>
            <a:off x="548640" y="347472"/>
            <a:ext cx="4572000" cy="256032"/>
          </a:xfrm>
          <a:prstGeom prst="rect">
            <a:avLst/>
          </a:prstGeom>
          <a:noFill/>
          <a:ln/>
        </p:spPr>
        <p:txBody>
          <a:bodyPr wrap="square" rtlCol="0" anchor="ctr"/>
          <a:lstStyle/>
          <a:p>
            <a:pPr marL="0" indent="0">
              <a:buNone/>
            </a:pPr>
            <a:r>
              <a:rPr lang="en-US" sz="850" b="1" kern="0" spc="300" dirty="0">
                <a:solidFill>
                  <a:srgbClr val="00AAFF"/>
                </a:solidFill>
                <a:latin typeface="Calibri" pitchFamily="34" charset="0"/>
                <a:ea typeface="Calibri" pitchFamily="34" charset="-122"/>
                <a:cs typeface="Calibri" pitchFamily="34" charset="-120"/>
              </a:rPr>
              <a:t>10  /  IMPACT</a:t>
            </a:r>
            <a:endParaRPr lang="en-US" sz="850" dirty="0"/>
          </a:p>
        </p:txBody>
      </p:sp>
      <p:sp>
        <p:nvSpPr>
          <p:cNvPr id="3" name="Text 1"/>
          <p:cNvSpPr/>
          <p:nvPr/>
        </p:nvSpPr>
        <p:spPr>
          <a:xfrm>
            <a:off x="502920" y="713232"/>
            <a:ext cx="4114800" cy="2560320"/>
          </a:xfrm>
          <a:prstGeom prst="rect">
            <a:avLst/>
          </a:prstGeom>
          <a:noFill/>
          <a:ln/>
        </p:spPr>
        <p:txBody>
          <a:bodyPr wrap="square" rtlCol="0" anchor="ctr"/>
          <a:lstStyle/>
          <a:p>
            <a:pPr marL="0" indent="0">
              <a:lnSpc>
                <a:spcPct val="110000"/>
              </a:lnSpc>
              <a:buNone/>
            </a:pPr>
            <a:r>
              <a:rPr lang="en-US" sz="3600" b="1" dirty="0">
                <a:solidFill>
                  <a:srgbClr val="FFFFFF"/>
                </a:solidFill>
                <a:latin typeface="Calibri" pitchFamily="34" charset="0"/>
                <a:ea typeface="Calibri" pitchFamily="34" charset="-122"/>
                <a:cs typeface="Calibri" pitchFamily="34" charset="-120"/>
              </a:rPr>
              <a:t>This architecture</a:t>
            </a:r>
            <a:endParaRPr lang="en-US" sz="3600" dirty="0"/>
          </a:p>
          <a:p>
            <a:pPr marL="0" indent="0">
              <a:lnSpc>
                <a:spcPct val="110000"/>
              </a:lnSpc>
              <a:buNone/>
            </a:pPr>
            <a:r>
              <a:rPr lang="en-US" sz="3600" b="1" dirty="0">
                <a:solidFill>
                  <a:srgbClr val="FFFFFF"/>
                </a:solidFill>
                <a:latin typeface="Calibri" pitchFamily="34" charset="0"/>
                <a:ea typeface="Calibri" pitchFamily="34" charset="-122"/>
                <a:cs typeface="Calibri" pitchFamily="34" charset="-120"/>
              </a:rPr>
              <a:t>scales beyond</a:t>
            </a:r>
            <a:endParaRPr lang="en-US" sz="3600" dirty="0"/>
          </a:p>
          <a:p>
            <a:pPr marL="0" indent="0">
              <a:lnSpc>
                <a:spcPct val="110000"/>
              </a:lnSpc>
              <a:buNone/>
            </a:pPr>
            <a:r>
              <a:rPr lang="en-US" sz="3600" b="1" dirty="0">
                <a:solidFill>
                  <a:srgbClr val="FFFFFF"/>
                </a:solidFill>
                <a:latin typeface="Calibri" pitchFamily="34" charset="0"/>
                <a:ea typeface="Calibri" pitchFamily="34" charset="-122"/>
                <a:cs typeface="Calibri" pitchFamily="34" charset="-120"/>
              </a:rPr>
              <a:t>Formula 1.</a:t>
            </a:r>
            <a:endParaRPr lang="en-US" sz="3600" dirty="0"/>
          </a:p>
        </p:txBody>
      </p:sp>
      <p:sp>
        <p:nvSpPr>
          <p:cNvPr id="4" name="Text 2"/>
          <p:cNvSpPr/>
          <p:nvPr/>
        </p:nvSpPr>
        <p:spPr>
          <a:xfrm>
            <a:off x="548640" y="3429000"/>
            <a:ext cx="3931920" cy="1051560"/>
          </a:xfrm>
          <a:prstGeom prst="rect">
            <a:avLst/>
          </a:prstGeom>
          <a:noFill/>
          <a:ln/>
        </p:spPr>
        <p:txBody>
          <a:bodyPr wrap="square" rtlCol="0" anchor="ctr"/>
          <a:lstStyle/>
          <a:p>
            <a:pPr marL="0" indent="0">
              <a:buNone/>
            </a:pPr>
            <a:r>
              <a:rPr lang="en-US" sz="1200" dirty="0">
                <a:solidFill>
                  <a:srgbClr val="C8D8E8"/>
                </a:solidFill>
                <a:latin typeface="Calibri" pitchFamily="34" charset="0"/>
                <a:ea typeface="Calibri" pitchFamily="34" charset="-122"/>
                <a:cs typeface="Calibri" pitchFamily="34" charset="-120"/>
              </a:rPr>
              <a:t>F1 was selected for its complexity. The agentic pattern — specialized agents + deterministic engines + LLM narration — is domain-agnostic by design.</a:t>
            </a:r>
            <a:endParaRPr lang="en-US" sz="1200" dirty="0"/>
          </a:p>
        </p:txBody>
      </p:sp>
      <p:sp>
        <p:nvSpPr>
          <p:cNvPr id="5" name="Shape 3"/>
          <p:cNvSpPr/>
          <p:nvPr/>
        </p:nvSpPr>
        <p:spPr>
          <a:xfrm>
            <a:off x="4754880" y="457200"/>
            <a:ext cx="0" cy="4572000"/>
          </a:xfrm>
          <a:prstGeom prst="line">
            <a:avLst/>
          </a:prstGeom>
          <a:noFill/>
          <a:ln w="6350">
            <a:solidFill>
              <a:srgbClr val="5A7A9A"/>
            </a:solidFill>
            <a:prstDash val="solid"/>
          </a:ln>
        </p:spPr>
      </p:sp>
      <p:sp>
        <p:nvSpPr>
          <p:cNvPr id="6" name="Text 4"/>
          <p:cNvSpPr/>
          <p:nvPr/>
        </p:nvSpPr>
        <p:spPr>
          <a:xfrm>
            <a:off x="5029200" y="502920"/>
            <a:ext cx="3657600" cy="347472"/>
          </a:xfrm>
          <a:prstGeom prst="rect">
            <a:avLst/>
          </a:prstGeom>
          <a:noFill/>
          <a:ln/>
        </p:spPr>
        <p:txBody>
          <a:bodyPr wrap="square" rtlCol="0" anchor="ctr"/>
          <a:lstStyle/>
          <a:p>
            <a:pPr marL="0" indent="0">
              <a:buNone/>
            </a:pPr>
            <a:r>
              <a:rPr lang="en-US" sz="1200" b="1" dirty="0">
                <a:solidFill>
                  <a:srgbClr val="00AAFF"/>
                </a:solidFill>
                <a:latin typeface="Calibri" pitchFamily="34" charset="0"/>
                <a:ea typeface="Calibri" pitchFamily="34" charset="-122"/>
                <a:cs typeface="Calibri" pitchFamily="34" charset="-120"/>
              </a:rPr>
              <a:t>Where else this works</a:t>
            </a:r>
            <a:endParaRPr lang="en-US" sz="1200" dirty="0"/>
          </a:p>
        </p:txBody>
      </p:sp>
      <p:sp>
        <p:nvSpPr>
          <p:cNvPr id="7" name="Text 5"/>
          <p:cNvSpPr/>
          <p:nvPr/>
        </p:nvSpPr>
        <p:spPr>
          <a:xfrm>
            <a:off x="5029200" y="1005840"/>
            <a:ext cx="457200" cy="365760"/>
          </a:xfrm>
          <a:prstGeom prst="rect">
            <a:avLst/>
          </a:prstGeom>
          <a:noFill/>
          <a:ln/>
        </p:spPr>
        <p:txBody>
          <a:bodyPr wrap="square" rtlCol="0" anchor="ctr"/>
          <a:lstStyle/>
          <a:p>
            <a:pPr marL="0" indent="0">
              <a:buNone/>
            </a:pPr>
            <a:r>
              <a:rPr lang="en-US" sz="1100" b="1" dirty="0">
                <a:solidFill>
                  <a:srgbClr val="00AAFF"/>
                </a:solidFill>
                <a:latin typeface="Calibri" pitchFamily="34" charset="0"/>
                <a:ea typeface="Calibri" pitchFamily="34" charset="-122"/>
                <a:cs typeface="Calibri" pitchFamily="34" charset="-120"/>
              </a:rPr>
              <a:t>01</a:t>
            </a:r>
            <a:endParaRPr lang="en-US" sz="1100" dirty="0"/>
          </a:p>
        </p:txBody>
      </p:sp>
      <p:sp>
        <p:nvSpPr>
          <p:cNvPr id="8" name="Text 6"/>
          <p:cNvSpPr/>
          <p:nvPr/>
        </p:nvSpPr>
        <p:spPr>
          <a:xfrm>
            <a:off x="5532120" y="1005840"/>
            <a:ext cx="320040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Finance</a:t>
            </a:r>
            <a:endParaRPr lang="en-US" sz="1600" dirty="0"/>
          </a:p>
        </p:txBody>
      </p:sp>
      <p:sp>
        <p:nvSpPr>
          <p:cNvPr id="9" name="Text 7"/>
          <p:cNvSpPr/>
          <p:nvPr/>
        </p:nvSpPr>
        <p:spPr>
          <a:xfrm>
            <a:off x="5532120" y="1371600"/>
            <a:ext cx="3200400" cy="475488"/>
          </a:xfrm>
          <a:prstGeom prst="rect">
            <a:avLst/>
          </a:prstGeom>
          <a:noFill/>
          <a:ln/>
        </p:spPr>
        <p:txBody>
          <a:bodyPr wrap="square" rtlCol="0" anchor="ctr"/>
          <a:lstStyle/>
          <a:p>
            <a:pPr marL="0" indent="0">
              <a:buNone/>
            </a:pPr>
            <a:r>
              <a:rPr lang="en-US" sz="1000" dirty="0">
                <a:solidFill>
                  <a:srgbClr val="5A7A9A"/>
                </a:solidFill>
                <a:latin typeface="Calibri" pitchFamily="34" charset="0"/>
                <a:ea typeface="Calibri" pitchFamily="34" charset="-122"/>
                <a:cs typeface="Calibri" pitchFamily="34" charset="-120"/>
              </a:rPr>
              <a:t>Portfolio intelligence, risk prediction, audit trails</a:t>
            </a:r>
            <a:endParaRPr lang="en-US" sz="1000" dirty="0"/>
          </a:p>
        </p:txBody>
      </p:sp>
      <p:sp>
        <p:nvSpPr>
          <p:cNvPr id="10" name="Shape 8"/>
          <p:cNvSpPr/>
          <p:nvPr/>
        </p:nvSpPr>
        <p:spPr>
          <a:xfrm>
            <a:off x="5029200" y="1901952"/>
            <a:ext cx="3657600" cy="0"/>
          </a:xfrm>
          <a:prstGeom prst="line">
            <a:avLst/>
          </a:prstGeom>
          <a:noFill/>
          <a:ln w="5080">
            <a:solidFill>
              <a:srgbClr val="1A2D40"/>
            </a:solidFill>
            <a:prstDash val="solid"/>
          </a:ln>
        </p:spPr>
      </p:sp>
      <p:sp>
        <p:nvSpPr>
          <p:cNvPr id="11" name="Text 9"/>
          <p:cNvSpPr/>
          <p:nvPr/>
        </p:nvSpPr>
        <p:spPr>
          <a:xfrm>
            <a:off x="5029200" y="2011680"/>
            <a:ext cx="457200" cy="365760"/>
          </a:xfrm>
          <a:prstGeom prst="rect">
            <a:avLst/>
          </a:prstGeom>
          <a:noFill/>
          <a:ln/>
        </p:spPr>
        <p:txBody>
          <a:bodyPr wrap="square" rtlCol="0" anchor="ctr"/>
          <a:lstStyle/>
          <a:p>
            <a:pPr marL="0" indent="0">
              <a:buNone/>
            </a:pPr>
            <a:r>
              <a:rPr lang="en-US" sz="1100" b="1" dirty="0">
                <a:solidFill>
                  <a:srgbClr val="00AAFF"/>
                </a:solidFill>
                <a:latin typeface="Calibri" pitchFamily="34" charset="0"/>
                <a:ea typeface="Calibri" pitchFamily="34" charset="-122"/>
                <a:cs typeface="Calibri" pitchFamily="34" charset="-120"/>
              </a:rPr>
              <a:t>02</a:t>
            </a:r>
            <a:endParaRPr lang="en-US" sz="1100" dirty="0"/>
          </a:p>
        </p:txBody>
      </p:sp>
      <p:sp>
        <p:nvSpPr>
          <p:cNvPr id="12" name="Text 10"/>
          <p:cNvSpPr/>
          <p:nvPr/>
        </p:nvSpPr>
        <p:spPr>
          <a:xfrm>
            <a:off x="5532120" y="2011680"/>
            <a:ext cx="320040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Healthcare</a:t>
            </a:r>
            <a:endParaRPr lang="en-US" sz="1600" dirty="0"/>
          </a:p>
        </p:txBody>
      </p:sp>
      <p:sp>
        <p:nvSpPr>
          <p:cNvPr id="13" name="Text 11"/>
          <p:cNvSpPr/>
          <p:nvPr/>
        </p:nvSpPr>
        <p:spPr>
          <a:xfrm>
            <a:off x="5532120" y="2377440"/>
            <a:ext cx="3200400" cy="475488"/>
          </a:xfrm>
          <a:prstGeom prst="rect">
            <a:avLst/>
          </a:prstGeom>
          <a:noFill/>
          <a:ln/>
        </p:spPr>
        <p:txBody>
          <a:bodyPr wrap="square" rtlCol="0" anchor="ctr"/>
          <a:lstStyle/>
          <a:p>
            <a:pPr marL="0" indent="0">
              <a:buNone/>
            </a:pPr>
            <a:r>
              <a:rPr lang="en-US" sz="1000" dirty="0">
                <a:solidFill>
                  <a:srgbClr val="5A7A9A"/>
                </a:solidFill>
                <a:latin typeface="Calibri" pitchFamily="34" charset="0"/>
                <a:ea typeface="Calibri" pitchFamily="34" charset="-122"/>
                <a:cs typeface="Calibri" pitchFamily="34" charset="-120"/>
              </a:rPr>
              <a:t>Clinical decision support, diagnostic reasoning</a:t>
            </a:r>
            <a:endParaRPr lang="en-US" sz="1000" dirty="0"/>
          </a:p>
        </p:txBody>
      </p:sp>
      <p:sp>
        <p:nvSpPr>
          <p:cNvPr id="14" name="Shape 12"/>
          <p:cNvSpPr/>
          <p:nvPr/>
        </p:nvSpPr>
        <p:spPr>
          <a:xfrm>
            <a:off x="5029200" y="2907792"/>
            <a:ext cx="3657600" cy="0"/>
          </a:xfrm>
          <a:prstGeom prst="line">
            <a:avLst/>
          </a:prstGeom>
          <a:noFill/>
          <a:ln w="5080">
            <a:solidFill>
              <a:srgbClr val="1A2D40"/>
            </a:solidFill>
            <a:prstDash val="solid"/>
          </a:ln>
        </p:spPr>
      </p:sp>
      <p:sp>
        <p:nvSpPr>
          <p:cNvPr id="15" name="Text 13"/>
          <p:cNvSpPr/>
          <p:nvPr/>
        </p:nvSpPr>
        <p:spPr>
          <a:xfrm>
            <a:off x="5029200" y="3017520"/>
            <a:ext cx="457200" cy="365760"/>
          </a:xfrm>
          <a:prstGeom prst="rect">
            <a:avLst/>
          </a:prstGeom>
          <a:noFill/>
          <a:ln/>
        </p:spPr>
        <p:txBody>
          <a:bodyPr wrap="square" rtlCol="0" anchor="ctr"/>
          <a:lstStyle/>
          <a:p>
            <a:pPr marL="0" indent="0">
              <a:buNone/>
            </a:pPr>
            <a:r>
              <a:rPr lang="en-US" sz="1100" b="1" dirty="0">
                <a:solidFill>
                  <a:srgbClr val="00AAFF"/>
                </a:solidFill>
                <a:latin typeface="Calibri" pitchFamily="34" charset="0"/>
                <a:ea typeface="Calibri" pitchFamily="34" charset="-122"/>
                <a:cs typeface="Calibri" pitchFamily="34" charset="-120"/>
              </a:rPr>
              <a:t>03</a:t>
            </a:r>
            <a:endParaRPr lang="en-US" sz="1100" dirty="0"/>
          </a:p>
        </p:txBody>
      </p:sp>
      <p:sp>
        <p:nvSpPr>
          <p:cNvPr id="16" name="Text 14"/>
          <p:cNvSpPr/>
          <p:nvPr/>
        </p:nvSpPr>
        <p:spPr>
          <a:xfrm>
            <a:off x="5532120" y="3017520"/>
            <a:ext cx="320040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Logistics</a:t>
            </a:r>
            <a:endParaRPr lang="en-US" sz="1600" dirty="0"/>
          </a:p>
        </p:txBody>
      </p:sp>
      <p:sp>
        <p:nvSpPr>
          <p:cNvPr id="17" name="Text 15"/>
          <p:cNvSpPr/>
          <p:nvPr/>
        </p:nvSpPr>
        <p:spPr>
          <a:xfrm>
            <a:off x="5532120" y="3383280"/>
            <a:ext cx="3200400" cy="475488"/>
          </a:xfrm>
          <a:prstGeom prst="rect">
            <a:avLst/>
          </a:prstGeom>
          <a:noFill/>
          <a:ln/>
        </p:spPr>
        <p:txBody>
          <a:bodyPr wrap="square" rtlCol="0" anchor="ctr"/>
          <a:lstStyle/>
          <a:p>
            <a:pPr marL="0" indent="0">
              <a:buNone/>
            </a:pPr>
            <a:r>
              <a:rPr lang="en-US" sz="1000" dirty="0">
                <a:solidFill>
                  <a:srgbClr val="5A7A9A"/>
                </a:solidFill>
                <a:latin typeface="Calibri" pitchFamily="34" charset="0"/>
                <a:ea typeface="Calibri" pitchFamily="34" charset="-122"/>
                <a:cs typeface="Calibri" pitchFamily="34" charset="-120"/>
              </a:rPr>
              <a:t>Route optimization, supply chain intelligence</a:t>
            </a:r>
            <a:endParaRPr lang="en-US" sz="1000" dirty="0"/>
          </a:p>
        </p:txBody>
      </p:sp>
      <p:sp>
        <p:nvSpPr>
          <p:cNvPr id="18" name="Shape 16"/>
          <p:cNvSpPr/>
          <p:nvPr/>
        </p:nvSpPr>
        <p:spPr>
          <a:xfrm>
            <a:off x="5029200" y="3913632"/>
            <a:ext cx="3657600" cy="0"/>
          </a:xfrm>
          <a:prstGeom prst="line">
            <a:avLst/>
          </a:prstGeom>
          <a:noFill/>
          <a:ln w="5080">
            <a:solidFill>
              <a:srgbClr val="1A2D40"/>
            </a:solidFill>
            <a:prstDash val="solid"/>
          </a:ln>
        </p:spPr>
      </p:sp>
      <p:sp>
        <p:nvSpPr>
          <p:cNvPr id="19" name="Text 17"/>
          <p:cNvSpPr/>
          <p:nvPr/>
        </p:nvSpPr>
        <p:spPr>
          <a:xfrm>
            <a:off x="5029200" y="4023360"/>
            <a:ext cx="457200" cy="365760"/>
          </a:xfrm>
          <a:prstGeom prst="rect">
            <a:avLst/>
          </a:prstGeom>
          <a:noFill/>
          <a:ln/>
        </p:spPr>
        <p:txBody>
          <a:bodyPr wrap="square" rtlCol="0" anchor="ctr"/>
          <a:lstStyle/>
          <a:p>
            <a:pPr marL="0" indent="0">
              <a:buNone/>
            </a:pPr>
            <a:r>
              <a:rPr lang="en-US" sz="1100" b="1" dirty="0">
                <a:solidFill>
                  <a:srgbClr val="00AAFF"/>
                </a:solidFill>
                <a:latin typeface="Calibri" pitchFamily="34" charset="0"/>
                <a:ea typeface="Calibri" pitchFamily="34" charset="-122"/>
                <a:cs typeface="Calibri" pitchFamily="34" charset="-120"/>
              </a:rPr>
              <a:t>04</a:t>
            </a:r>
            <a:endParaRPr lang="en-US" sz="1100" dirty="0"/>
          </a:p>
        </p:txBody>
      </p:sp>
      <p:sp>
        <p:nvSpPr>
          <p:cNvPr id="20" name="Text 18"/>
          <p:cNvSpPr/>
          <p:nvPr/>
        </p:nvSpPr>
        <p:spPr>
          <a:xfrm>
            <a:off x="5532120" y="4023360"/>
            <a:ext cx="320040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Enterprise</a:t>
            </a:r>
            <a:endParaRPr lang="en-US" sz="1600" dirty="0"/>
          </a:p>
        </p:txBody>
      </p:sp>
      <p:sp>
        <p:nvSpPr>
          <p:cNvPr id="21" name="Text 19"/>
          <p:cNvSpPr/>
          <p:nvPr/>
        </p:nvSpPr>
        <p:spPr>
          <a:xfrm>
            <a:off x="5532120" y="4389120"/>
            <a:ext cx="3200400" cy="475488"/>
          </a:xfrm>
          <a:prstGeom prst="rect">
            <a:avLst/>
          </a:prstGeom>
          <a:noFill/>
          <a:ln/>
        </p:spPr>
        <p:txBody>
          <a:bodyPr wrap="square" rtlCol="0" anchor="ctr"/>
          <a:lstStyle/>
          <a:p>
            <a:pPr marL="0" indent="0">
              <a:buNone/>
            </a:pPr>
            <a:r>
              <a:rPr lang="en-US" sz="1000" dirty="0">
                <a:solidFill>
                  <a:srgbClr val="5A7A9A"/>
                </a:solidFill>
                <a:latin typeface="Calibri" pitchFamily="34" charset="0"/>
                <a:ea typeface="Calibri" pitchFamily="34" charset="-122"/>
                <a:cs typeface="Calibri" pitchFamily="34" charset="-120"/>
              </a:rPr>
              <a:t>Internal knowledge retrieval, operational analytics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5080F"/>
        </a:solidFill>
        <a:effectLst/>
      </p:bgPr>
    </p:bg>
    <p:spTree>
      <p:nvGrpSpPr>
        <p:cNvPr id="1" name=""/>
        <p:cNvGrpSpPr/>
        <p:nvPr/>
      </p:nvGrpSpPr>
      <p:grpSpPr>
        <a:xfrm>
          <a:off x="0" y="0"/>
          <a:ext cx="0" cy="0"/>
          <a:chOff x="0" y="0"/>
          <a:chExt cx="0" cy="0"/>
        </a:xfrm>
      </p:grpSpPr>
      <p:sp>
        <p:nvSpPr>
          <p:cNvPr id="2" name="Shape 0"/>
          <p:cNvSpPr/>
          <p:nvPr/>
        </p:nvSpPr>
        <p:spPr>
          <a:xfrm>
            <a:off x="5486400" y="914400"/>
            <a:ext cx="5486400" cy="5486400"/>
          </a:xfrm>
          <a:prstGeom prst="ellipse">
            <a:avLst/>
          </a:prstGeom>
          <a:solidFill>
            <a:srgbClr val="0066CC">
              <a:alpha val="7000"/>
            </a:srgbClr>
          </a:solidFill>
          <a:ln w="12700">
            <a:solidFill>
              <a:srgbClr val="0066CC">
                <a:alpha val="0"/>
              </a:srgbClr>
            </a:solidFill>
            <a:prstDash val="solid"/>
          </a:ln>
        </p:spPr>
      </p:sp>
      <p:sp>
        <p:nvSpPr>
          <p:cNvPr id="3" name="Text 1"/>
          <p:cNvSpPr/>
          <p:nvPr/>
        </p:nvSpPr>
        <p:spPr>
          <a:xfrm>
            <a:off x="548640" y="347472"/>
            <a:ext cx="4572000" cy="256032"/>
          </a:xfrm>
          <a:prstGeom prst="rect">
            <a:avLst/>
          </a:prstGeom>
          <a:noFill/>
          <a:ln/>
        </p:spPr>
        <p:txBody>
          <a:bodyPr wrap="square" rtlCol="0" anchor="ctr"/>
          <a:lstStyle/>
          <a:p>
            <a:pPr marL="0" indent="0">
              <a:buNone/>
            </a:pPr>
            <a:r>
              <a:rPr lang="en-US" sz="850" b="1" kern="0" spc="300" dirty="0">
                <a:solidFill>
                  <a:srgbClr val="00AAFF"/>
                </a:solidFill>
                <a:latin typeface="Calibri" pitchFamily="34" charset="0"/>
                <a:ea typeface="Calibri" pitchFamily="34" charset="-122"/>
                <a:cs typeface="Calibri" pitchFamily="34" charset="-120"/>
              </a:rPr>
              <a:t>11  /  CLOSING</a:t>
            </a:r>
            <a:endParaRPr lang="en-US" sz="850" dirty="0"/>
          </a:p>
        </p:txBody>
      </p:sp>
      <p:sp>
        <p:nvSpPr>
          <p:cNvPr id="4" name="Text 2"/>
          <p:cNvSpPr/>
          <p:nvPr/>
        </p:nvSpPr>
        <p:spPr>
          <a:xfrm>
            <a:off x="502920" y="713232"/>
            <a:ext cx="5943600" cy="2560320"/>
          </a:xfrm>
          <a:prstGeom prst="rect">
            <a:avLst/>
          </a:prstGeom>
          <a:noFill/>
          <a:ln/>
        </p:spPr>
        <p:txBody>
          <a:bodyPr wrap="square" rtlCol="0" anchor="ctr"/>
          <a:lstStyle/>
          <a:p>
            <a:pPr marL="0" indent="0">
              <a:lnSpc>
                <a:spcPct val="110000"/>
              </a:lnSpc>
              <a:buNone/>
            </a:pPr>
            <a:r>
              <a:rPr lang="en-US" sz="4000" b="1" dirty="0">
                <a:solidFill>
                  <a:srgbClr val="FFFFFF"/>
                </a:solidFill>
                <a:latin typeface="Calibri" pitchFamily="34" charset="0"/>
                <a:ea typeface="Calibri" pitchFamily="34" charset="-122"/>
                <a:cs typeface="Calibri" pitchFamily="34" charset="-120"/>
              </a:rPr>
              <a:t>Specialized agents.</a:t>
            </a:r>
            <a:endParaRPr lang="en-US" sz="4000" dirty="0"/>
          </a:p>
          <a:p>
            <a:pPr marL="0" indent="0">
              <a:lnSpc>
                <a:spcPct val="110000"/>
              </a:lnSpc>
              <a:buNone/>
            </a:pPr>
            <a:r>
              <a:rPr lang="en-US" sz="4000" b="1" dirty="0">
                <a:solidFill>
                  <a:srgbClr val="FFFFFF"/>
                </a:solidFill>
                <a:latin typeface="Calibri" pitchFamily="34" charset="0"/>
                <a:ea typeface="Calibri" pitchFamily="34" charset="-122"/>
                <a:cs typeface="Calibri" pitchFamily="34" charset="-120"/>
              </a:rPr>
              <a:t>Deterministic engines.</a:t>
            </a:r>
            <a:endParaRPr lang="en-US" sz="4000" dirty="0"/>
          </a:p>
          <a:p>
            <a:pPr marL="0" indent="0">
              <a:lnSpc>
                <a:spcPct val="110000"/>
              </a:lnSpc>
              <a:buNone/>
            </a:pPr>
            <a:r>
              <a:rPr lang="en-US" sz="4000" b="1" dirty="0">
                <a:solidFill>
                  <a:srgbClr val="FFFFFF"/>
                </a:solidFill>
                <a:latin typeface="Calibri" pitchFamily="34" charset="0"/>
                <a:ea typeface="Calibri" pitchFamily="34" charset="-122"/>
                <a:cs typeface="Calibri" pitchFamily="34" charset="-120"/>
              </a:rPr>
              <a:t>Explainable outcomes.</a:t>
            </a:r>
            <a:endParaRPr lang="en-US" sz="4000" dirty="0"/>
          </a:p>
        </p:txBody>
      </p:sp>
      <p:sp>
        <p:nvSpPr>
          <p:cNvPr id="5" name="Shape 3"/>
          <p:cNvSpPr/>
          <p:nvPr/>
        </p:nvSpPr>
        <p:spPr>
          <a:xfrm>
            <a:off x="502920" y="3094892"/>
            <a:ext cx="8046720" cy="0"/>
          </a:xfrm>
          <a:prstGeom prst="line">
            <a:avLst/>
          </a:prstGeom>
          <a:noFill/>
          <a:ln w="5080">
            <a:solidFill>
              <a:srgbClr val="5A7A9A"/>
            </a:solidFill>
            <a:prstDash val="solid"/>
          </a:ln>
        </p:spPr>
        <p:txBody>
          <a:bodyPr/>
          <a:lstStyle/>
          <a:p>
            <a:endParaRPr lang="en-IN" dirty="0"/>
          </a:p>
        </p:txBody>
      </p:sp>
      <p:sp>
        <p:nvSpPr>
          <p:cNvPr id="6" name="Text 4"/>
          <p:cNvSpPr/>
          <p:nvPr/>
        </p:nvSpPr>
        <p:spPr>
          <a:xfrm>
            <a:off x="548640" y="3177540"/>
            <a:ext cx="2743200" cy="256032"/>
          </a:xfrm>
          <a:prstGeom prst="rect">
            <a:avLst/>
          </a:prstGeom>
          <a:noFill/>
          <a:ln/>
        </p:spPr>
        <p:txBody>
          <a:bodyPr wrap="square" rtlCol="0" anchor="ctr"/>
          <a:lstStyle/>
          <a:p>
            <a:pPr marL="0" indent="0">
              <a:buNone/>
            </a:pPr>
            <a:r>
              <a:rPr lang="en-US" sz="800" kern="0" spc="300" dirty="0">
                <a:solidFill>
                  <a:srgbClr val="5A7A9A"/>
                </a:solidFill>
                <a:latin typeface="Calibri" pitchFamily="34" charset="0"/>
                <a:ea typeface="Calibri" pitchFamily="34" charset="-122"/>
                <a:cs typeface="Calibri" pitchFamily="34" charset="-120"/>
              </a:rPr>
              <a:t>WHAT'S NEXT</a:t>
            </a:r>
            <a:endParaRPr lang="en-US" sz="800" dirty="0"/>
          </a:p>
        </p:txBody>
      </p:sp>
      <p:sp>
        <p:nvSpPr>
          <p:cNvPr id="7" name="Text 5"/>
          <p:cNvSpPr/>
          <p:nvPr/>
        </p:nvSpPr>
        <p:spPr>
          <a:xfrm>
            <a:off x="548640" y="3433572"/>
            <a:ext cx="2103120" cy="320040"/>
          </a:xfrm>
          <a:prstGeom prst="rect">
            <a:avLst/>
          </a:prstGeom>
          <a:noFill/>
          <a:ln/>
        </p:spPr>
        <p:txBody>
          <a:bodyPr wrap="square" rtlCol="0" anchor="ctr"/>
          <a:lstStyle/>
          <a:p>
            <a:pPr marL="0" indent="0">
              <a:buNone/>
            </a:pPr>
            <a:r>
              <a:rPr lang="en-US" sz="1050" dirty="0">
                <a:solidFill>
                  <a:srgbClr val="C8D8E8"/>
                </a:solidFill>
                <a:latin typeface="Calibri" pitchFamily="34" charset="0"/>
                <a:ea typeface="Calibri" pitchFamily="34" charset="-122"/>
                <a:cs typeface="Calibri" pitchFamily="34" charset="-120"/>
              </a:rPr>
              <a:t>→  Live telemetry integration</a:t>
            </a:r>
            <a:endParaRPr lang="en-US" sz="1050" dirty="0"/>
          </a:p>
        </p:txBody>
      </p:sp>
      <p:sp>
        <p:nvSpPr>
          <p:cNvPr id="8" name="Text 6"/>
          <p:cNvSpPr/>
          <p:nvPr/>
        </p:nvSpPr>
        <p:spPr>
          <a:xfrm>
            <a:off x="2724912" y="3433572"/>
            <a:ext cx="2103120" cy="320040"/>
          </a:xfrm>
          <a:prstGeom prst="rect">
            <a:avLst/>
          </a:prstGeom>
          <a:noFill/>
          <a:ln/>
        </p:spPr>
        <p:txBody>
          <a:bodyPr wrap="square" rtlCol="0" anchor="ctr"/>
          <a:lstStyle/>
          <a:p>
            <a:pPr marL="0" indent="0">
              <a:buNone/>
            </a:pPr>
            <a:r>
              <a:rPr lang="en-US" sz="1050" dirty="0">
                <a:solidFill>
                  <a:srgbClr val="C8D8E8"/>
                </a:solidFill>
                <a:latin typeface="Calibri" pitchFamily="34" charset="0"/>
                <a:ea typeface="Calibri" pitchFamily="34" charset="-122"/>
                <a:cs typeface="Calibri" pitchFamily="34" charset="-120"/>
              </a:rPr>
              <a:t>→  Real-time strategy recommendations</a:t>
            </a:r>
            <a:endParaRPr lang="en-US" sz="1050" dirty="0"/>
          </a:p>
        </p:txBody>
      </p:sp>
      <p:sp>
        <p:nvSpPr>
          <p:cNvPr id="9" name="Text 7"/>
          <p:cNvSpPr/>
          <p:nvPr/>
        </p:nvSpPr>
        <p:spPr>
          <a:xfrm>
            <a:off x="4901184" y="3433572"/>
            <a:ext cx="2103120" cy="320040"/>
          </a:xfrm>
          <a:prstGeom prst="rect">
            <a:avLst/>
          </a:prstGeom>
          <a:noFill/>
          <a:ln/>
        </p:spPr>
        <p:txBody>
          <a:bodyPr wrap="square" rtlCol="0" anchor="ctr"/>
          <a:lstStyle/>
          <a:p>
            <a:pPr marL="0" indent="0">
              <a:buNone/>
            </a:pPr>
            <a:r>
              <a:rPr lang="en-US" sz="1050" dirty="0">
                <a:solidFill>
                  <a:srgbClr val="C8D8E8"/>
                </a:solidFill>
                <a:latin typeface="Calibri" pitchFamily="34" charset="0"/>
                <a:ea typeface="Calibri" pitchFamily="34" charset="-122"/>
                <a:cs typeface="Calibri" pitchFamily="34" charset="-120"/>
              </a:rPr>
              <a:t>→  Driver digital twins</a:t>
            </a:r>
            <a:endParaRPr lang="en-US" sz="1050" dirty="0"/>
          </a:p>
        </p:txBody>
      </p:sp>
      <p:sp>
        <p:nvSpPr>
          <p:cNvPr id="10" name="Text 8"/>
          <p:cNvSpPr/>
          <p:nvPr/>
        </p:nvSpPr>
        <p:spPr>
          <a:xfrm>
            <a:off x="6803136" y="3433572"/>
            <a:ext cx="2103120" cy="320040"/>
          </a:xfrm>
          <a:prstGeom prst="rect">
            <a:avLst/>
          </a:prstGeom>
          <a:noFill/>
          <a:ln/>
        </p:spPr>
        <p:txBody>
          <a:bodyPr wrap="square" rtlCol="0" anchor="ctr"/>
          <a:lstStyle/>
          <a:p>
            <a:pPr marL="0" indent="0">
              <a:buNone/>
            </a:pPr>
            <a:r>
              <a:rPr lang="en-US" sz="1050" dirty="0">
                <a:solidFill>
                  <a:srgbClr val="C8D8E8"/>
                </a:solidFill>
                <a:latin typeface="Calibri" pitchFamily="34" charset="0"/>
                <a:ea typeface="Calibri" pitchFamily="34" charset="-122"/>
                <a:cs typeface="Calibri" pitchFamily="34" charset="-120"/>
              </a:rPr>
              <a:t>→  Voice-enabled AI analyst</a:t>
            </a:r>
            <a:endParaRPr lang="en-US" sz="1050" dirty="0"/>
          </a:p>
        </p:txBody>
      </p:sp>
      <p:sp>
        <p:nvSpPr>
          <p:cNvPr id="11" name="Shape 9"/>
          <p:cNvSpPr/>
          <p:nvPr/>
        </p:nvSpPr>
        <p:spPr>
          <a:xfrm>
            <a:off x="483929" y="3753612"/>
            <a:ext cx="8046720" cy="0"/>
          </a:xfrm>
          <a:prstGeom prst="line">
            <a:avLst/>
          </a:prstGeom>
          <a:noFill/>
          <a:ln w="5080">
            <a:solidFill>
              <a:srgbClr val="1A2D40"/>
            </a:solidFill>
            <a:prstDash val="solid"/>
          </a:ln>
        </p:spPr>
      </p:sp>
      <p:sp>
        <p:nvSpPr>
          <p:cNvPr id="12" name="Text 10"/>
          <p:cNvSpPr/>
          <p:nvPr/>
        </p:nvSpPr>
        <p:spPr>
          <a:xfrm>
            <a:off x="548640" y="4009291"/>
            <a:ext cx="8046720" cy="786729"/>
          </a:xfrm>
          <a:prstGeom prst="rect">
            <a:avLst/>
          </a:prstGeom>
          <a:noFill/>
          <a:ln/>
        </p:spPr>
        <p:txBody>
          <a:bodyPr wrap="square" rtlCol="0" anchor="ctr"/>
          <a:lstStyle/>
          <a:p>
            <a:pPr marL="0" indent="0" algn="ctr">
              <a:buNone/>
            </a:pPr>
            <a:r>
              <a:rPr lang="en-US" sz="1100" dirty="0" err="1">
                <a:solidFill>
                  <a:srgbClr val="5A7A9A"/>
                </a:solidFill>
                <a:latin typeface="Calibri" pitchFamily="34" charset="0"/>
                <a:ea typeface="Calibri" pitchFamily="34" charset="-122"/>
                <a:cs typeface="Calibri" pitchFamily="34" charset="-120"/>
              </a:rPr>
              <a:t>Racecraft</a:t>
            </a:r>
            <a:r>
              <a:rPr lang="en-US" sz="1100" dirty="0">
                <a:solidFill>
                  <a:srgbClr val="5A7A9A"/>
                </a:solidFill>
                <a:latin typeface="Calibri" pitchFamily="34" charset="0"/>
                <a:ea typeface="Calibri" pitchFamily="34" charset="-122"/>
                <a:cs typeface="Calibri" pitchFamily="34" charset="-120"/>
              </a:rPr>
              <a:t> AI:  github.com/CzPhantom10/F1-AgenticAI</a:t>
            </a:r>
          </a:p>
          <a:p>
            <a:pPr algn="ctr"/>
            <a:r>
              <a:rPr lang="en-US" sz="1100" dirty="0">
                <a:solidFill>
                  <a:srgbClr val="5A7A9A"/>
                </a:solidFill>
                <a:latin typeface="Calibri" pitchFamily="34" charset="0"/>
                <a:ea typeface="Calibri" pitchFamily="34" charset="-122"/>
                <a:cs typeface="Calibri" pitchFamily="34" charset="-120"/>
              </a:rPr>
              <a:t>Demo Video: </a:t>
            </a:r>
            <a:r>
              <a:rPr lang="en-US" sz="1100" dirty="0">
                <a:solidFill>
                  <a:srgbClr val="5A7A9A"/>
                </a:solidFill>
                <a:latin typeface="Calibri" pitchFamily="34" charset="0"/>
                <a:ea typeface="Calibri" pitchFamily="34" charset="-122"/>
                <a:cs typeface="Calibri" pitchFamily="34" charset="-120"/>
                <a:hlinkClick r:id="rId3"/>
              </a:rPr>
              <a:t>https://youtu.be/_QOfYiclPxk?si=lrJY_EQHsx1ThYwl</a:t>
            </a:r>
            <a:endParaRPr lang="en-US" sz="1100" dirty="0">
              <a:solidFill>
                <a:srgbClr val="5A7A9A"/>
              </a:solidFill>
              <a:latin typeface="Calibri" pitchFamily="34" charset="0"/>
              <a:ea typeface="Calibri" pitchFamily="34" charset="-122"/>
              <a:cs typeface="Calibri" pitchFamily="34" charset="-120"/>
            </a:endParaRPr>
          </a:p>
          <a:p>
            <a:pPr algn="ctr"/>
            <a:r>
              <a:rPr lang="en-US" sz="1100" dirty="0">
                <a:solidFill>
                  <a:srgbClr val="5A7A9A"/>
                </a:solidFill>
                <a:latin typeface="Calibri" pitchFamily="34" charset="0"/>
                <a:ea typeface="Calibri" pitchFamily="34" charset="-122"/>
                <a:cs typeface="Calibri" pitchFamily="34" charset="-120"/>
              </a:rPr>
              <a:t>Google docs (all required docs are uploaded here): </a:t>
            </a:r>
            <a:r>
              <a:rPr lang="en-US" sz="1100" dirty="0">
                <a:solidFill>
                  <a:srgbClr val="5A7A9A"/>
                </a:solidFill>
                <a:latin typeface="Calibri" pitchFamily="34" charset="0"/>
                <a:ea typeface="Calibri" pitchFamily="34" charset="-122"/>
                <a:cs typeface="Calibri" pitchFamily="34" charset="-120"/>
                <a:hlinkClick r:id="rId4"/>
              </a:rPr>
              <a:t>https://drive.google.com/drive/folders/1nev2RsS_R4hBLUCTk-MSJw5A1THFD56Q?usp=sharing</a:t>
            </a:r>
            <a:endParaRPr lang="en-US" sz="1100" dirty="0">
              <a:solidFill>
                <a:srgbClr val="5A7A9A"/>
              </a:solidFill>
              <a:latin typeface="Calibri" pitchFamily="34" charset="0"/>
              <a:ea typeface="Calibri" pitchFamily="34" charset="-122"/>
              <a:cs typeface="Calibri" pitchFamily="34" charset="-120"/>
            </a:endParaRPr>
          </a:p>
          <a:p>
            <a:pPr algn="ctr"/>
            <a:r>
              <a:rPr lang="en-US" sz="1100" dirty="0">
                <a:solidFill>
                  <a:srgbClr val="5A7A9A"/>
                </a:solidFill>
                <a:latin typeface="Calibri" pitchFamily="34" charset="0"/>
                <a:ea typeface="Calibri" pitchFamily="34" charset="-122"/>
                <a:cs typeface="Calibri" pitchFamily="34" charset="-120"/>
              </a:rPr>
              <a:t> </a:t>
            </a:r>
          </a:p>
          <a:p>
            <a:pPr algn="ctr"/>
            <a:endParaRPr lang="en-US" sz="1100" dirty="0">
              <a:solidFill>
                <a:srgbClr val="5A7A9A"/>
              </a:solidFill>
              <a:latin typeface="Calibri" pitchFamily="34" charset="0"/>
              <a:ea typeface="Calibri" pitchFamily="34" charset="-122"/>
              <a:cs typeface="Calibri" pitchFamily="34" charset="-120"/>
            </a:endParaRPr>
          </a:p>
          <a:p>
            <a:pPr algn="ctr"/>
            <a:endParaRPr lang="en-US" sz="1100" dirty="0"/>
          </a:p>
        </p:txBody>
      </p:sp>
      <p:sp>
        <p:nvSpPr>
          <p:cNvPr id="13" name="Text 11"/>
          <p:cNvSpPr/>
          <p:nvPr/>
        </p:nvSpPr>
        <p:spPr>
          <a:xfrm>
            <a:off x="548640" y="4828032"/>
            <a:ext cx="8046720" cy="320040"/>
          </a:xfrm>
          <a:prstGeom prst="rect">
            <a:avLst/>
          </a:prstGeom>
          <a:noFill/>
          <a:ln/>
        </p:spPr>
        <p:txBody>
          <a:bodyPr wrap="square" rtlCol="0" anchor="ctr"/>
          <a:lstStyle/>
          <a:p>
            <a:pPr marL="0" indent="0" algn="ctr">
              <a:buNone/>
            </a:pPr>
            <a:r>
              <a:rPr lang="en-US" sz="1300" b="1" dirty="0">
                <a:solidFill>
                  <a:srgbClr val="00AAFF"/>
                </a:solidFill>
                <a:latin typeface="Calibri" pitchFamily="34" charset="0"/>
                <a:ea typeface="Calibri" pitchFamily="34" charset="-122"/>
                <a:cs typeface="Calibri" pitchFamily="34" charset="-120"/>
              </a:rPr>
              <a:t>Agentic Intelligence for Formula 1</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TotalTime>
  <Words>1457</Words>
  <Application>Microsoft Office PowerPoint</Application>
  <PresentationFormat>On-screen Show (16:9)</PresentationFormat>
  <Paragraphs>186</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Racecraft AI</dc:title>
  <dc:subject>PptxGenJS Presentation</dc:subject>
  <dc:creator>PptxGenJS</dc:creator>
  <cp:lastModifiedBy>Prateek Sinha</cp:lastModifiedBy>
  <cp:revision>3</cp:revision>
  <dcterms:created xsi:type="dcterms:W3CDTF">2026-06-21T06:56:48Z</dcterms:created>
  <dcterms:modified xsi:type="dcterms:W3CDTF">2026-06-21T07:48:50Z</dcterms:modified>
</cp:coreProperties>
</file>